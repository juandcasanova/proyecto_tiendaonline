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8"/>
    <p:restoredTop sz="94720"/>
  </p:normalViewPr>
  <p:slideViewPr>
    <p:cSldViewPr snapToGrid="0">
      <p:cViewPr varScale="1">
        <p:scale>
          <a:sx n="211" d="100"/>
          <a:sy n="211" d="100"/>
        </p:scale>
        <p:origin x="15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001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EBA4D-D237-8B48-A66D-3F439CBBA457}" type="datetimeFigureOut">
              <a:rPr lang="es-001" smtClean="0"/>
              <a:t>26/08/2025</a:t>
            </a:fld>
            <a:endParaRPr lang="es-001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001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001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001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C69A-685C-2A43-8870-320D2D5217E2}" type="slidenum">
              <a:rPr lang="es-001" smtClean="0"/>
              <a:t>‹Nº›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460547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5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2926797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CDEF-8905-0EA2-F698-6FF1F9C4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288151-ECB5-B427-D3F0-A296E03D2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D5DC2E-2AA5-2C97-3EAC-5EA1EF217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A1B2D7-7116-4A22-76BA-3DEC8A592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6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579608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5B4D6-34E1-D37D-A655-8CE72997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DA6968-8C68-06EC-E125-02D784576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09F0310-6740-FB07-D66D-83A696A2C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646B4B-D878-7348-55C0-BEC3703F5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7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1318192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1F90-49A2-361C-DBF8-F1A7FCA77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F0DE70-F1DB-E698-A6A7-9B5EDAE23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894500-9FDF-8908-321F-F3D0A3236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23C3C6-357D-90D3-0BBF-6E0FCCE53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8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1317861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4644-DBD8-C23B-6371-E99D3604D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B80723-ABC7-48C3-2731-4F1D3BC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15BFFD-E7E3-79F2-6CFC-27BEE6772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D2B9A5-4F3F-4E0F-441F-7BD0422FD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9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927995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1A22-61C5-DF90-7825-CD016E59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D4035D-9313-6EB7-6FB5-174DBB081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55CBA0-C884-B0E7-FEAA-F70926A69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23493D-00B9-8137-E205-23E1D57D6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10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1807740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131A7-1A05-9300-C5A3-8197F38B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3E48CA-070E-EBD2-6D1B-E7ADD6A17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67BFDA-7773-9AFC-B60D-224DA1C6D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2C49B7-F1BA-2D4B-D6BC-6895BF203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11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2411042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E632-183E-B35C-7F27-72746ECB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8DB2BB-B6D6-56E8-C131-729CC3FD8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BA0A1C-BDC0-B5BC-A6B0-9E83E6ECD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227B96-1E66-F38E-D290-E13DF4A82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12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2810591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1B7BD-1098-CE3A-22F1-1F052C5E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737AEC3-1ED3-4203-A305-C7B36A5C2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8C1318B-7531-0E8C-AEF7-5A841F9F9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nombre-de-tu-rama</a:t>
            </a:r>
            <a:endParaRPr lang="es-00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708397-D7C6-4201-3981-9A8D96FC6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0C69A-685C-2A43-8870-320D2D5217E2}" type="slidenum">
              <a:rPr lang="es-001" smtClean="0"/>
              <a:t>13</a:t>
            </a:fld>
            <a:endParaRPr lang="es-001"/>
          </a:p>
        </p:txBody>
      </p:sp>
    </p:spTree>
    <p:extLst>
      <p:ext uri="{BB962C8B-B14F-4D97-AF65-F5344CB8AC3E}">
        <p14:creationId xmlns:p14="http://schemas.microsoft.com/office/powerpoint/2010/main" val="516082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26/08/25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sencilla 1"/>
          <p:cNvSpPr/>
          <p:nvPr/>
        </p:nvSpPr>
        <p:spPr>
          <a:xfrm>
            <a:off x="4239491" y="3366655"/>
            <a:ext cx="3277590" cy="1615044"/>
          </a:xfrm>
          <a:prstGeom prst="round1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/>
          <p:cNvSpPr txBox="1"/>
          <p:nvPr/>
        </p:nvSpPr>
        <p:spPr>
          <a:xfrm>
            <a:off x="4362449" y="3822700"/>
            <a:ext cx="4839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INGENIERÍA DE SISTEMAS</a:t>
            </a:r>
          </a:p>
          <a:p>
            <a:r>
              <a:rPr lang="es-MX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Mg. Esteban Morales Castro </a:t>
            </a:r>
            <a:endParaRPr lang="es-CO" sz="3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47453C-71F3-D5AE-8342-292A30508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Saludo bienvenida</a:t>
            </a:r>
          </a:p>
          <a:p>
            <a:r>
              <a:rPr lang="es-MX" dirty="0"/>
              <a:t>Llamado a lista </a:t>
            </a:r>
          </a:p>
          <a:p>
            <a:r>
              <a:rPr lang="es-MX" dirty="0"/>
              <a:t>recordando Git </a:t>
            </a:r>
          </a:p>
          <a:p>
            <a:r>
              <a:rPr lang="es-MX" dirty="0"/>
              <a:t>Instalacion </a:t>
            </a:r>
          </a:p>
          <a:p>
            <a:r>
              <a:rPr lang="es-MX" dirty="0"/>
              <a:t>Comandos</a:t>
            </a:r>
          </a:p>
          <a:p>
            <a:r>
              <a:rPr lang="es-MX" dirty="0"/>
              <a:t>Fin de la sesión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8433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5001A-7A46-BD4C-A3A5-7448FBF6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364ECB3-D83B-84C9-EEE0-5EBEC837720C}"/>
              </a:ext>
            </a:extLst>
          </p:cNvPr>
          <p:cNvSpPr txBox="1"/>
          <p:nvPr/>
        </p:nvSpPr>
        <p:spPr>
          <a:xfrm>
            <a:off x="3865005" y="1132434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Flujo de trabajo básico en remoto</a:t>
            </a:r>
            <a:endParaRPr lang="es-00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05D04BE-0920-D7A9-AEF0-572443961E77}"/>
              </a:ext>
            </a:extLst>
          </p:cNvPr>
          <p:cNvSpPr txBox="1"/>
          <p:nvPr/>
        </p:nvSpPr>
        <p:spPr>
          <a:xfrm>
            <a:off x="599507" y="1647943"/>
            <a:ext cx="1088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Clonar</a:t>
            </a:r>
            <a:r>
              <a:rPr lang="es-ES" dirty="0"/>
              <a:t>: Para empezar a trabajar en un proyecto, primero necesitas </a:t>
            </a:r>
            <a:r>
              <a:rPr lang="es-ES" b="1" dirty="0"/>
              <a:t>clonar</a:t>
            </a:r>
            <a:r>
              <a:rPr lang="es-ES" dirty="0"/>
              <a:t> el repositorio remoto a tu máquina local.</a:t>
            </a:r>
            <a:endParaRPr lang="es-00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7276505-E9E5-297E-E33E-109A8537C3F6}"/>
              </a:ext>
            </a:extLst>
          </p:cNvPr>
          <p:cNvSpPr txBox="1"/>
          <p:nvPr/>
        </p:nvSpPr>
        <p:spPr>
          <a:xfrm>
            <a:off x="3047495" y="3107349"/>
            <a:ext cx="6094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001" dirty="0"/>
              <a:t>Ejemplo de url remota</a:t>
            </a:r>
          </a:p>
          <a:p>
            <a:endParaRPr lang="es-001" dirty="0"/>
          </a:p>
          <a:p>
            <a:r>
              <a:rPr lang="es-001" dirty="0"/>
              <a:t>git clone https://docs.github.com/es/get-started/using-git/getting-changes-from-a-remote-repository</a:t>
            </a:r>
          </a:p>
        </p:txBody>
      </p:sp>
    </p:spTree>
    <p:extLst>
      <p:ext uri="{BB962C8B-B14F-4D97-AF65-F5344CB8AC3E}">
        <p14:creationId xmlns:p14="http://schemas.microsoft.com/office/powerpoint/2010/main" val="3531611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0E11F-5E99-E44D-4B5B-A25B5FF6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DF67F0A-F9A2-A54B-5814-311C42525135}"/>
              </a:ext>
            </a:extLst>
          </p:cNvPr>
          <p:cNvSpPr txBox="1"/>
          <p:nvPr/>
        </p:nvSpPr>
        <p:spPr>
          <a:xfrm>
            <a:off x="607076" y="1292220"/>
            <a:ext cx="10335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Ramas (</a:t>
            </a:r>
            <a:r>
              <a:rPr lang="es-ES" b="1" dirty="0" err="1"/>
              <a:t>Branches</a:t>
            </a:r>
            <a:r>
              <a:rPr lang="es-ES" b="1" dirty="0"/>
              <a:t>)</a:t>
            </a:r>
            <a:r>
              <a:rPr lang="es-ES" dirty="0"/>
              <a:t>: Las ramas te permiten trabajar en nuevas funcionalidades o correcciones sin afectar el código principal (generalmente, la rama 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 o </a:t>
            </a:r>
            <a:r>
              <a:rPr lang="es-ES" dirty="0">
                <a:latin typeface="Courier New" panose="02070309020205020404" pitchFamily="49" charset="0"/>
              </a:rPr>
              <a:t>master</a:t>
            </a:r>
            <a:r>
              <a:rPr lang="es-ES" dirty="0"/>
              <a:t>). Es una buena práctica crear una rama nueva para cada tarea.</a:t>
            </a:r>
            <a:endParaRPr lang="es-00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51B97C-335D-3FF8-286A-E6836B7312F2}"/>
              </a:ext>
            </a:extLst>
          </p:cNvPr>
          <p:cNvSpPr txBox="1"/>
          <p:nvPr/>
        </p:nvSpPr>
        <p:spPr>
          <a:xfrm>
            <a:off x="3047495" y="3245848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001" dirty="0"/>
              <a:t>git checkout -b nombre-de-tu-rama</a:t>
            </a:r>
          </a:p>
        </p:txBody>
      </p:sp>
    </p:spTree>
    <p:extLst>
      <p:ext uri="{BB962C8B-B14F-4D97-AF65-F5344CB8AC3E}">
        <p14:creationId xmlns:p14="http://schemas.microsoft.com/office/powerpoint/2010/main" val="380997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1452-1DB3-EBDF-B2C5-2AD80F64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04D8921-8BD8-7B95-6205-D45C9B61EC7A}"/>
              </a:ext>
            </a:extLst>
          </p:cNvPr>
          <p:cNvSpPr txBox="1"/>
          <p:nvPr/>
        </p:nvSpPr>
        <p:spPr>
          <a:xfrm>
            <a:off x="679743" y="1050775"/>
            <a:ext cx="10432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 err="1">
                <a:latin typeface="Courier New" panose="02070309020205020404" pitchFamily="49" charset="0"/>
              </a:rPr>
              <a:t>commit</a:t>
            </a:r>
            <a:r>
              <a:rPr lang="es-ES" b="1" dirty="0"/>
              <a:t>, </a:t>
            </a:r>
            <a:r>
              <a:rPr lang="es-ES" b="1" dirty="0" err="1">
                <a:latin typeface="Courier New" panose="02070309020205020404" pitchFamily="49" charset="0"/>
              </a:rPr>
              <a:t>pull</a:t>
            </a:r>
            <a:r>
              <a:rPr lang="es-ES" b="1" dirty="0"/>
              <a:t> y </a:t>
            </a:r>
            <a:r>
              <a:rPr lang="es-ES" b="1" dirty="0" err="1">
                <a:latin typeface="Courier New" panose="02070309020205020404" pitchFamily="49" charset="0"/>
              </a:rPr>
              <a:t>push</a:t>
            </a:r>
            <a:r>
              <a:rPr lang="es-ES" b="1" dirty="0"/>
              <a:t> ⬆️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>
                <a:latin typeface="Courier New" panose="02070309020205020404" pitchFamily="49" charset="0"/>
              </a:rPr>
              <a:t>commit</a:t>
            </a:r>
            <a:r>
              <a:rPr lang="es-ES" dirty="0"/>
              <a:t>: Una vez que has hecho cambios, los guardas en tu rama local. Piensa en un </a:t>
            </a:r>
            <a:r>
              <a:rPr lang="es-ES" dirty="0" err="1">
                <a:latin typeface="Courier New" panose="02070309020205020404" pitchFamily="49" charset="0"/>
              </a:rPr>
              <a:t>commit</a:t>
            </a:r>
            <a:r>
              <a:rPr lang="es-ES" dirty="0"/>
              <a:t> como una instantánea de tus archivos en un momento dado, con un mensaje que explica lo que hiciste.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DF2FDB4-74B1-C95A-9B7F-D18B1721B128}"/>
              </a:ext>
            </a:extLst>
          </p:cNvPr>
          <p:cNvSpPr txBox="1"/>
          <p:nvPr/>
        </p:nvSpPr>
        <p:spPr>
          <a:xfrm>
            <a:off x="3204942" y="2053670"/>
            <a:ext cx="6094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001" dirty="0"/>
              <a:t>git add .</a:t>
            </a:r>
          </a:p>
          <a:p>
            <a:r>
              <a:rPr lang="es-001" dirty="0"/>
              <a:t>git commit -m "Descripción clara de los cambios"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92BC0D-D6B0-690A-F9F1-822183F72A37}"/>
              </a:ext>
            </a:extLst>
          </p:cNvPr>
          <p:cNvSpPr txBox="1"/>
          <p:nvPr/>
        </p:nvSpPr>
        <p:spPr>
          <a:xfrm>
            <a:off x="679743" y="2700001"/>
            <a:ext cx="11019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>
                <a:latin typeface="Courier New" panose="02070309020205020404" pitchFamily="49" charset="0"/>
              </a:rPr>
              <a:t>pull</a:t>
            </a:r>
            <a:r>
              <a:rPr lang="es-ES" dirty="0"/>
              <a:t>: Antes de subir tus cambios, siempre debes </a:t>
            </a:r>
            <a:r>
              <a:rPr lang="es-ES" b="1" dirty="0"/>
              <a:t>actualizar</a:t>
            </a:r>
            <a:r>
              <a:rPr lang="es-ES" dirty="0"/>
              <a:t> tu rama local con los últimos cambios del repositorio remoto para evitar conflictos.</a:t>
            </a:r>
            <a:endParaRPr lang="es-00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64E7E69-BD82-F2E6-2339-0C7EF92CAC0B}"/>
              </a:ext>
            </a:extLst>
          </p:cNvPr>
          <p:cNvSpPr txBox="1"/>
          <p:nvPr/>
        </p:nvSpPr>
        <p:spPr>
          <a:xfrm>
            <a:off x="3204942" y="3425897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001" dirty="0"/>
              <a:t>git pull origin nombre-de-tu-rama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6F184E3-66E6-33CB-F257-98AD41C69B95}"/>
              </a:ext>
            </a:extLst>
          </p:cNvPr>
          <p:cNvSpPr txBox="1"/>
          <p:nvPr/>
        </p:nvSpPr>
        <p:spPr>
          <a:xfrm>
            <a:off x="679743" y="3992663"/>
            <a:ext cx="10432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>
                <a:latin typeface="Courier New" panose="02070309020205020404" pitchFamily="49" charset="0"/>
              </a:rPr>
              <a:t>push</a:t>
            </a:r>
            <a:r>
              <a:rPr lang="es-ES" dirty="0"/>
              <a:t>: Este comando sube tus </a:t>
            </a:r>
            <a:r>
              <a:rPr lang="es-ES" dirty="0" err="1"/>
              <a:t>commits</a:t>
            </a:r>
            <a:r>
              <a:rPr lang="es-ES" dirty="0"/>
              <a:t> de tu rama local al repositorio remoto.</a:t>
            </a:r>
            <a:endParaRPr lang="es-00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3964935-A7ED-51CB-8A6C-D7E59C6B622D}"/>
              </a:ext>
            </a:extLst>
          </p:cNvPr>
          <p:cNvSpPr txBox="1"/>
          <p:nvPr/>
        </p:nvSpPr>
        <p:spPr>
          <a:xfrm>
            <a:off x="3204942" y="4441560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001" dirty="0"/>
              <a:t>git push origin nombre-de-tu-rama</a:t>
            </a:r>
          </a:p>
        </p:txBody>
      </p:sp>
    </p:spTree>
    <p:extLst>
      <p:ext uri="{BB962C8B-B14F-4D97-AF65-F5344CB8AC3E}">
        <p14:creationId xmlns:p14="http://schemas.microsoft.com/office/powerpoint/2010/main" val="402771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9642-458F-15A4-3498-E06081292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200B2F6-5CBF-4BE6-DA4A-74D33DA34D0B}"/>
              </a:ext>
            </a:extLst>
          </p:cNvPr>
          <p:cNvSpPr txBox="1"/>
          <p:nvPr/>
        </p:nvSpPr>
        <p:spPr>
          <a:xfrm>
            <a:off x="3235220" y="1029488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Uniendo cambios (</a:t>
            </a:r>
            <a:r>
              <a:rPr lang="es-ES" dirty="0" err="1"/>
              <a:t>Merge</a:t>
            </a:r>
            <a:r>
              <a:rPr lang="es-ES" dirty="0"/>
              <a:t> y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Requests</a:t>
            </a:r>
            <a:r>
              <a:rPr lang="es-ES" dirty="0"/>
              <a:t>)</a:t>
            </a:r>
            <a:endParaRPr lang="es-00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CF132C-00C1-1B82-E1B3-7AB5B6C9B874}"/>
              </a:ext>
            </a:extLst>
          </p:cNvPr>
          <p:cNvSpPr txBox="1"/>
          <p:nvPr/>
        </p:nvSpPr>
        <p:spPr>
          <a:xfrm>
            <a:off x="607076" y="1674674"/>
            <a:ext cx="107653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Sincronización del equipo </a:t>
            </a:r>
            <a:r>
              <a:rPr lang="es-001" b="1" dirty="0"/>
              <a:t>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Pull</a:t>
            </a:r>
            <a:r>
              <a:rPr lang="es-ES" b="1" dirty="0"/>
              <a:t> </a:t>
            </a:r>
            <a:r>
              <a:rPr lang="es-ES" b="1" dirty="0" err="1"/>
              <a:t>Request</a:t>
            </a:r>
            <a:r>
              <a:rPr lang="es-ES" b="1" dirty="0"/>
              <a:t> (PR)</a:t>
            </a:r>
            <a:r>
              <a:rPr lang="es-ES" dirty="0"/>
              <a:t>: Es la forma en que le pides a un colaborador o al dueño del proyecto que revise tus cambios y los una a la rama principal.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>
                <a:latin typeface="Courier New" panose="02070309020205020404" pitchFamily="49" charset="0"/>
              </a:rPr>
              <a:t>merge</a:t>
            </a:r>
            <a:r>
              <a:rPr lang="es-ES" dirty="0"/>
              <a:t>: Es el acto de combinar los cambios de una rama con otra. Cuando se acepta un PR, GitHub realiza un </a:t>
            </a:r>
            <a:r>
              <a:rPr lang="es-ES" dirty="0" err="1">
                <a:latin typeface="Courier New" panose="02070309020205020404" pitchFamily="49" charset="0"/>
              </a:rPr>
              <a:t>merge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926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32E4-D4FD-E804-E031-A0E2C2BA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3A0D0D3-296C-BF84-1941-E8DD6213DEAE}"/>
              </a:ext>
            </a:extLst>
          </p:cNvPr>
          <p:cNvSpPr txBox="1"/>
          <p:nvPr/>
        </p:nvSpPr>
        <p:spPr>
          <a:xfrm>
            <a:off x="4288899" y="974987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Resolución de conflictos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08B0E5-1D11-7A32-78FA-15EF75C60BB9}"/>
              </a:ext>
            </a:extLst>
          </p:cNvPr>
          <p:cNvSpPr txBox="1"/>
          <p:nvPr/>
        </p:nvSpPr>
        <p:spPr>
          <a:xfrm>
            <a:off x="479908" y="1414112"/>
            <a:ext cx="10880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¿Qué es un conflicto? </a:t>
            </a:r>
            <a:r>
              <a:rPr lang="es-001" b="1" dirty="0"/>
              <a:t>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Un conflicto ocurre cuando Git no puede fusionar automáticamente los cambios de dos ramas. Esto suele pasar cuando dos personas modifican la misma línea de código en el mismo archivo.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5459376-BDF1-8177-272C-DDD47D82B660}"/>
              </a:ext>
            </a:extLst>
          </p:cNvPr>
          <p:cNvSpPr txBox="1"/>
          <p:nvPr/>
        </p:nvSpPr>
        <p:spPr>
          <a:xfrm>
            <a:off x="914398" y="2500944"/>
            <a:ext cx="104459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Ejemplo práctico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Paso 1</a:t>
            </a:r>
            <a:r>
              <a:rPr lang="es-ES" dirty="0"/>
              <a:t>: Juan y María están trabajando en el mismo archivo </a:t>
            </a:r>
            <a:r>
              <a:rPr lang="es-ES" dirty="0" err="1">
                <a:latin typeface="Courier New" panose="02070309020205020404" pitchFamily="49" charset="0"/>
              </a:rPr>
              <a:t>index.html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Paso 2</a:t>
            </a:r>
            <a:r>
              <a:rPr lang="es-ES" dirty="0"/>
              <a:t>: Juan cambia el título de la página a "Mi Web". Hace </a:t>
            </a:r>
            <a:r>
              <a:rPr lang="es-ES" dirty="0" err="1">
                <a:latin typeface="Courier New" panose="02070309020205020404" pitchFamily="49" charset="0"/>
              </a:rPr>
              <a:t>commit</a:t>
            </a:r>
            <a:r>
              <a:rPr lang="es-ES" dirty="0"/>
              <a:t> y </a:t>
            </a:r>
            <a:r>
              <a:rPr lang="es-ES" dirty="0" err="1">
                <a:latin typeface="Courier New" panose="02070309020205020404" pitchFamily="49" charset="0"/>
              </a:rPr>
              <a:t>push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Paso 3</a:t>
            </a:r>
            <a:r>
              <a:rPr lang="es-ES" dirty="0"/>
              <a:t>: María, sin saberlo, cambia el título a "Mi Sitio". Hace </a:t>
            </a:r>
            <a:r>
              <a:rPr lang="es-ES" dirty="0" err="1">
                <a:latin typeface="Courier New" panose="02070309020205020404" pitchFamily="49" charset="0"/>
              </a:rPr>
              <a:t>commit</a:t>
            </a:r>
            <a:r>
              <a:rPr lang="es-ES" dirty="0"/>
              <a:t> y luego un </a:t>
            </a:r>
            <a:r>
              <a:rPr lang="es-ES" dirty="0" err="1">
                <a:latin typeface="Courier New" panose="02070309020205020404" pitchFamily="49" charset="0"/>
              </a:rPr>
              <a:t>pull</a:t>
            </a:r>
            <a:r>
              <a:rPr lang="es-ES" dirty="0"/>
              <a:t> antes de su </a:t>
            </a:r>
            <a:r>
              <a:rPr lang="es-ES" dirty="0" err="1">
                <a:latin typeface="Courier New" panose="02070309020205020404" pitchFamily="49" charset="0"/>
              </a:rPr>
              <a:t>push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Paso 4</a:t>
            </a:r>
            <a:r>
              <a:rPr lang="es-ES" dirty="0"/>
              <a:t>: Git detecta el conflicto y marca las diferencias en el archivo de María.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Courier New" panose="02070309020205020404" pitchFamily="49" charset="0"/>
              </a:rPr>
              <a:t>&lt;&lt;&lt;&lt;&lt;&lt;&lt; HEAD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Courier New" panose="02070309020205020404" pitchFamily="49" charset="0"/>
              </a:rPr>
              <a:t>&lt;h1&gt;Mi Sitio&lt;/h1&gt;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Courier New" panose="02070309020205020404" pitchFamily="49" charset="0"/>
              </a:rPr>
              <a:t>=======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Courier New" panose="02070309020205020404" pitchFamily="49" charset="0"/>
              </a:rPr>
              <a:t>&lt;h1&gt;Mi Web&lt;/h1&gt;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Courier New" panose="02070309020205020404" pitchFamily="49" charset="0"/>
              </a:rPr>
              <a:t>&gt;&gt;&gt;&gt;&gt;&gt;&gt; </a:t>
            </a:r>
            <a:r>
              <a:rPr lang="es-ES" dirty="0" err="1">
                <a:effectLst/>
                <a:latin typeface="Courier New" panose="02070309020205020404" pitchFamily="49" charset="0"/>
              </a:rPr>
              <a:t>main</a:t>
            </a:r>
            <a:endParaRPr lang="es-ES" dirty="0"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56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0F51-C904-338A-80B1-6282209C9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A45BD-83AF-AED6-1FB3-CC9F3F1FA8E5}"/>
              </a:ext>
            </a:extLst>
          </p:cNvPr>
          <p:cNvSpPr txBox="1"/>
          <p:nvPr/>
        </p:nvSpPr>
        <p:spPr>
          <a:xfrm>
            <a:off x="3756003" y="968932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Resumen y buenas prácticas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1C57BB7-54CE-25B6-6BEE-BAC439CAF9A6}"/>
              </a:ext>
            </a:extLst>
          </p:cNvPr>
          <p:cNvSpPr txBox="1"/>
          <p:nvPr/>
        </p:nvSpPr>
        <p:spPr>
          <a:xfrm>
            <a:off x="1049138" y="1497517"/>
            <a:ext cx="102203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Consejos para un trabajo en equipo efectivo </a:t>
            </a:r>
            <a:r>
              <a:rPr lang="es-001" b="1" dirty="0"/>
              <a:t>✅</a:t>
            </a:r>
          </a:p>
          <a:p>
            <a:pPr>
              <a:buNone/>
            </a:pPr>
            <a:endParaRPr lang="es-001" b="1" dirty="0"/>
          </a:p>
          <a:p>
            <a:pPr>
              <a:buNone/>
            </a:pPr>
            <a:endParaRPr lang="es-001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Comunicación</a:t>
            </a:r>
            <a:r>
              <a:rPr lang="es-ES" dirty="0"/>
              <a:t>: Hablen sobre quién va a trabajar en qué parte del proyecto.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>
                <a:latin typeface="Courier New" panose="02070309020205020404" pitchFamily="49" charset="0"/>
              </a:rPr>
              <a:t>pull</a:t>
            </a:r>
            <a:r>
              <a:rPr lang="es-ES" b="1" dirty="0"/>
              <a:t> con frecuencia</a:t>
            </a:r>
            <a:r>
              <a:rPr lang="es-ES" dirty="0"/>
              <a:t>: Actualiza tu rama antes de empezar a trabajar y antes de hacer </a:t>
            </a:r>
            <a:r>
              <a:rPr lang="es-ES" dirty="0" err="1">
                <a:latin typeface="Courier New" panose="02070309020205020404" pitchFamily="49" charset="0"/>
              </a:rPr>
              <a:t>push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Mensajes de </a:t>
            </a:r>
            <a:r>
              <a:rPr lang="es-ES" b="1" dirty="0" err="1">
                <a:latin typeface="Courier New" panose="02070309020205020404" pitchFamily="49" charset="0"/>
              </a:rPr>
              <a:t>commit</a:t>
            </a:r>
            <a:r>
              <a:rPr lang="es-ES" b="1" dirty="0"/>
              <a:t> claros</a:t>
            </a:r>
            <a:r>
              <a:rPr lang="es-ES" dirty="0"/>
              <a:t>: Un buen mensaje explica el porqué del cambio, no solo el qué.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Pull</a:t>
            </a:r>
            <a:r>
              <a:rPr lang="es-ES" b="1" dirty="0"/>
              <a:t> </a:t>
            </a:r>
            <a:r>
              <a:rPr lang="es-ES" b="1" dirty="0" err="1"/>
              <a:t>Requests</a:t>
            </a:r>
            <a:r>
              <a:rPr lang="es-ES" b="1" dirty="0"/>
              <a:t> (PR) pequeños</a:t>
            </a:r>
            <a:r>
              <a:rPr lang="es-ES" dirty="0"/>
              <a:t>: Es más fácil revisar y aprobar </a:t>
            </a:r>
            <a:r>
              <a:rPr lang="es-ES" dirty="0" err="1"/>
              <a:t>PRs</a:t>
            </a:r>
            <a:r>
              <a:rPr lang="es-ES" dirty="0"/>
              <a:t> que contienen pocos cambios.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Revisión de código</a:t>
            </a:r>
            <a:r>
              <a:rPr lang="es-ES" dirty="0"/>
              <a:t>: Siempre revisa los </a:t>
            </a:r>
            <a:r>
              <a:rPr lang="es-ES" dirty="0" err="1"/>
              <a:t>PRs</a:t>
            </a:r>
            <a:r>
              <a:rPr lang="es-ES" dirty="0"/>
              <a:t> de tus compañeros. ¡Es una gran oportunidad de aprendizaje!</a:t>
            </a:r>
          </a:p>
        </p:txBody>
      </p:sp>
    </p:spTree>
    <p:extLst>
      <p:ext uri="{BB962C8B-B14F-4D97-AF65-F5344CB8AC3E}">
        <p14:creationId xmlns:p14="http://schemas.microsoft.com/office/powerpoint/2010/main" val="292009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9F0AE-B589-44C8-EC19-ED4B8367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4617324-FF6A-F147-E3EC-C25820524E11}"/>
              </a:ext>
            </a:extLst>
          </p:cNvPr>
          <p:cNvSpPr txBox="1"/>
          <p:nvPr/>
        </p:nvSpPr>
        <p:spPr>
          <a:xfrm>
            <a:off x="3580391" y="1102155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Ejercicio en Clase: La Pizzería en Línea </a:t>
            </a:r>
            <a:r>
              <a:rPr lang="es-001" dirty="0"/>
              <a:t>🍕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09A48F-32AF-46AA-DF4F-9E6B3D395742}"/>
              </a:ext>
            </a:extLst>
          </p:cNvPr>
          <p:cNvSpPr txBox="1"/>
          <p:nvPr/>
        </p:nvSpPr>
        <p:spPr>
          <a:xfrm>
            <a:off x="1103637" y="1765339"/>
            <a:ext cx="97480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Objetivo del Ejercicio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Crear un menú de una pizzería en línea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Cada estudiante agregará una pizza única con sus ingredientes.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objetivo es practicar el flujo de trabajo en equipo: </a:t>
            </a:r>
            <a:r>
              <a:rPr lang="es-ES" dirty="0" err="1">
                <a:latin typeface="Courier New" panose="02070309020205020404" pitchFamily="49" charset="0"/>
              </a:rPr>
              <a:t>pull</a:t>
            </a:r>
            <a:r>
              <a:rPr lang="es-ES" dirty="0"/>
              <a:t>, </a:t>
            </a:r>
            <a:r>
              <a:rPr lang="es-ES" dirty="0" err="1">
                <a:latin typeface="Courier New" panose="02070309020205020404" pitchFamily="49" charset="0"/>
              </a:rPr>
              <a:t>commit</a:t>
            </a:r>
            <a:r>
              <a:rPr lang="es-ES" dirty="0"/>
              <a:t>, </a:t>
            </a:r>
            <a:r>
              <a:rPr lang="es-ES" dirty="0" err="1">
                <a:latin typeface="Courier New" panose="02070309020205020404" pitchFamily="49" charset="0"/>
              </a:rPr>
              <a:t>push</a:t>
            </a:r>
            <a:r>
              <a:rPr lang="es-ES" dirty="0"/>
              <a:t>, y resolver conflictos.</a:t>
            </a:r>
          </a:p>
        </p:txBody>
      </p:sp>
    </p:spTree>
    <p:extLst>
      <p:ext uri="{BB962C8B-B14F-4D97-AF65-F5344CB8AC3E}">
        <p14:creationId xmlns:p14="http://schemas.microsoft.com/office/powerpoint/2010/main" val="3549265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95ED-C8E1-FB55-C70F-2F49985E9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5E0E60E-4375-AB4F-4F59-A5B656BA2774}"/>
              </a:ext>
            </a:extLst>
          </p:cNvPr>
          <p:cNvSpPr txBox="1"/>
          <p:nvPr/>
        </p:nvSpPr>
        <p:spPr>
          <a:xfrm>
            <a:off x="1061248" y="1391681"/>
            <a:ext cx="104383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Pasos para el Estudiante (Individual) </a:t>
            </a:r>
            <a:r>
              <a:rPr lang="es-001" b="1" dirty="0"/>
              <a:t>🧍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Clonar el repositorio del proyecto</a:t>
            </a:r>
            <a:r>
              <a:rPr lang="es-E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El profesor proporcionará la URL del repositorio de GitHub.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Abre tu terminal y ejecuta: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clone https://</a:t>
            </a:r>
            <a:r>
              <a:rPr lang="es-ES" dirty="0" err="1">
                <a:latin typeface="Courier New" panose="02070309020205020404" pitchFamily="49" charset="0"/>
              </a:rPr>
              <a:t>docs.github.com</a:t>
            </a:r>
            <a:r>
              <a:rPr lang="es-ES" dirty="0">
                <a:latin typeface="Courier New" panose="02070309020205020404" pitchFamily="49" charset="0"/>
              </a:rPr>
              <a:t>/es/</a:t>
            </a:r>
            <a:r>
              <a:rPr lang="es-ES" dirty="0" err="1">
                <a:latin typeface="Courier New" panose="02070309020205020404" pitchFamily="49" charset="0"/>
              </a:rPr>
              <a:t>get-started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using-git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getting</a:t>
            </a:r>
            <a:r>
              <a:rPr lang="es-ES" dirty="0">
                <a:latin typeface="Courier New" panose="02070309020205020404" pitchFamily="49" charset="0"/>
              </a:rPr>
              <a:t>-</a:t>
            </a:r>
            <a:r>
              <a:rPr lang="es-ES" dirty="0" err="1">
                <a:latin typeface="Courier New" panose="02070309020205020404" pitchFamily="49" charset="0"/>
              </a:rPr>
              <a:t>changes</a:t>
            </a:r>
            <a:r>
              <a:rPr lang="es-ES" dirty="0">
                <a:latin typeface="Courier New" panose="02070309020205020404" pitchFamily="49" charset="0"/>
              </a:rPr>
              <a:t>-</a:t>
            </a:r>
            <a:r>
              <a:rPr lang="es-ES" dirty="0" err="1">
                <a:latin typeface="Courier New" panose="02070309020205020404" pitchFamily="49" charset="0"/>
              </a:rPr>
              <a:t>from</a:t>
            </a:r>
            <a:r>
              <a:rPr lang="es-ES" dirty="0">
                <a:latin typeface="Courier New" panose="02070309020205020404" pitchFamily="49" charset="0"/>
              </a:rPr>
              <a:t>-a-remote-</a:t>
            </a:r>
            <a:r>
              <a:rPr lang="es-ES" dirty="0" err="1">
                <a:latin typeface="Courier New" panose="02070309020205020404" pitchFamily="49" charset="0"/>
              </a:rPr>
              <a:t>repository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b="1" dirty="0"/>
              <a:t>Crear una nueva rama</a:t>
            </a:r>
            <a:r>
              <a:rPr lang="es-E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Crea una rama con tu nombre para trabajar.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Ejecuta: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checkout</a:t>
            </a:r>
            <a:r>
              <a:rPr lang="es-ES" dirty="0">
                <a:latin typeface="Courier New" panose="02070309020205020404" pitchFamily="49" charset="0"/>
              </a:rPr>
              <a:t> -b tu-nombre-pizza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b="1" dirty="0"/>
              <a:t>Agregar tu pizza al menú</a:t>
            </a:r>
            <a:r>
              <a:rPr lang="es-E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Abre el archivo </a:t>
            </a:r>
            <a:r>
              <a:rPr lang="es-ES" dirty="0" err="1">
                <a:latin typeface="Courier New" panose="02070309020205020404" pitchFamily="49" charset="0"/>
              </a:rPr>
              <a:t>menu.html</a:t>
            </a:r>
            <a:r>
              <a:rPr lang="es-ES" dirty="0"/>
              <a:t> en tu editor de código.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Agrega un nuevo elemento de lista (</a:t>
            </a:r>
            <a:r>
              <a:rPr lang="es-ES" dirty="0">
                <a:latin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</a:rPr>
              <a:t>li</a:t>
            </a:r>
            <a:r>
              <a:rPr lang="es-ES" dirty="0">
                <a:latin typeface="Courier New" panose="02070309020205020404" pitchFamily="49" charset="0"/>
              </a:rPr>
              <a:t>&gt;</a:t>
            </a:r>
            <a:r>
              <a:rPr lang="es-ES" dirty="0"/>
              <a:t>) con el nombre de tu pizza y sus ingredientes.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Ejemplo: </a:t>
            </a:r>
            <a:r>
              <a:rPr lang="es-ES" dirty="0">
                <a:latin typeface="Courier New" panose="02070309020205020404" pitchFamily="49" charset="0"/>
              </a:rPr>
              <a:t>&lt;</a:t>
            </a:r>
            <a:r>
              <a:rPr lang="es-ES" dirty="0" err="1">
                <a:latin typeface="Courier New" panose="02070309020205020404" pitchFamily="49" charset="0"/>
              </a:rPr>
              <a:t>li</a:t>
            </a:r>
            <a:r>
              <a:rPr lang="es-ES" dirty="0">
                <a:latin typeface="Courier New" panose="02070309020205020404" pitchFamily="49" charset="0"/>
              </a:rPr>
              <a:t>&gt;Pizza Hawaiana: jamón, piña, queso mozzarella.&lt;/</a:t>
            </a:r>
            <a:r>
              <a:rPr lang="es-ES" dirty="0" err="1">
                <a:latin typeface="Courier New" panose="02070309020205020404" pitchFamily="49" charset="0"/>
              </a:rPr>
              <a:t>li</a:t>
            </a:r>
            <a:r>
              <a:rPr lang="es-ES" dirty="0">
                <a:latin typeface="Courier New" panose="02070309020205020404" pitchFamily="49" charset="0"/>
              </a:rPr>
              <a:t>&gt;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2145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E417-FA56-1EAD-A93B-895E84EE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708532B-BB4F-28FA-7FCD-505773EC39FC}"/>
              </a:ext>
            </a:extLst>
          </p:cNvPr>
          <p:cNvSpPr txBox="1"/>
          <p:nvPr/>
        </p:nvSpPr>
        <p:spPr>
          <a:xfrm>
            <a:off x="958303" y="1150600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Guardar y subir tus cambios</a:t>
            </a:r>
            <a:r>
              <a:rPr lang="es-ES" dirty="0"/>
              <a:t>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9A9FA1D-CB35-1292-9399-D5F5BE2FECAA}"/>
              </a:ext>
            </a:extLst>
          </p:cNvPr>
          <p:cNvSpPr txBox="1"/>
          <p:nvPr/>
        </p:nvSpPr>
        <p:spPr>
          <a:xfrm>
            <a:off x="1388253" y="1519932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Guarda el archivo y haz un </a:t>
            </a:r>
            <a:r>
              <a:rPr lang="es-ES" dirty="0" err="1">
                <a:latin typeface="Courier New" panose="02070309020205020404" pitchFamily="49" charset="0"/>
              </a:rPr>
              <a:t>commit</a:t>
            </a:r>
            <a:r>
              <a:rPr lang="es-ES" dirty="0"/>
              <a:t>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1053A7-DC4E-9701-F63A-22EEDD30208A}"/>
              </a:ext>
            </a:extLst>
          </p:cNvPr>
          <p:cNvSpPr txBox="1"/>
          <p:nvPr/>
        </p:nvSpPr>
        <p:spPr>
          <a:xfrm>
            <a:off x="1945370" y="2017336"/>
            <a:ext cx="6094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001" dirty="0"/>
              <a:t>git add .</a:t>
            </a:r>
          </a:p>
          <a:p>
            <a:r>
              <a:rPr lang="es-001" dirty="0"/>
              <a:t>git commit -m "Agregado pizza [Nombre de la pizza]"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2FC1CB6-BD80-BF0E-8B50-DF029DF433B8}"/>
              </a:ext>
            </a:extLst>
          </p:cNvPr>
          <p:cNvSpPr txBox="1"/>
          <p:nvPr/>
        </p:nvSpPr>
        <p:spPr>
          <a:xfrm>
            <a:off x="1388253" y="3244334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Sube tu rama al repositorio remoto:</a:t>
            </a:r>
            <a:endParaRPr lang="es-00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02A76C-A003-CB02-D147-8FB6282FA666}"/>
              </a:ext>
            </a:extLst>
          </p:cNvPr>
          <p:cNvSpPr txBox="1"/>
          <p:nvPr/>
        </p:nvSpPr>
        <p:spPr>
          <a:xfrm>
            <a:off x="1945370" y="3905912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001" dirty="0"/>
              <a:t>git push origin tu-nombre-pizza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4290A6-40C5-773B-F246-1DD6C6542625}"/>
              </a:ext>
            </a:extLst>
          </p:cNvPr>
          <p:cNvSpPr txBox="1"/>
          <p:nvPr/>
        </p:nvSpPr>
        <p:spPr>
          <a:xfrm>
            <a:off x="1388253" y="4784070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Crea un </a:t>
            </a:r>
            <a:r>
              <a:rPr lang="es-ES" b="1" dirty="0" err="1"/>
              <a:t>Pull</a:t>
            </a:r>
            <a:r>
              <a:rPr lang="es-ES" b="1" dirty="0"/>
              <a:t> </a:t>
            </a:r>
            <a:r>
              <a:rPr lang="es-ES" b="1" dirty="0" err="1"/>
              <a:t>Request</a:t>
            </a:r>
            <a:r>
              <a:rPr lang="es-ES" dirty="0"/>
              <a:t> en GitHub para que el profesor lo revise.</a:t>
            </a:r>
            <a:endParaRPr lang="es-001" dirty="0"/>
          </a:p>
        </p:txBody>
      </p:sp>
    </p:spTree>
    <p:extLst>
      <p:ext uri="{BB962C8B-B14F-4D97-AF65-F5344CB8AC3E}">
        <p14:creationId xmlns:p14="http://schemas.microsoft.com/office/powerpoint/2010/main" val="3821002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B65BA-D298-FBBD-44B0-957F9796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25BEC6F-882C-965C-0B6D-5617CFBA6ED6}"/>
              </a:ext>
            </a:extLst>
          </p:cNvPr>
          <p:cNvSpPr txBox="1"/>
          <p:nvPr/>
        </p:nvSpPr>
        <p:spPr>
          <a:xfrm>
            <a:off x="582853" y="1182439"/>
            <a:ext cx="11322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¡Conflicto a la vista!</a:t>
            </a:r>
            <a:r>
              <a:rPr lang="es-ES" dirty="0"/>
              <a:t>: Dos o más estudiantes van a elegir la misma pizza. Por ejemplo, dos estudiantes agregan la "Pizza Margarita" al mismo tiempo y suben sus cambios.</a:t>
            </a:r>
            <a:endParaRPr lang="es-00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91A32E9-0D82-7B8D-B262-B229F4EEAFCC}"/>
              </a:ext>
            </a:extLst>
          </p:cNvPr>
          <p:cNvSpPr txBox="1"/>
          <p:nvPr/>
        </p:nvSpPr>
        <p:spPr>
          <a:xfrm>
            <a:off x="1037026" y="1885856"/>
            <a:ext cx="98994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Instrucciones para resolverlo</a:t>
            </a:r>
            <a:r>
              <a:rPr lang="es-ES" dirty="0"/>
              <a:t>:</a:t>
            </a:r>
          </a:p>
          <a:p>
            <a:pPr>
              <a:buNone/>
            </a:pP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Cuando GitHub notifique el conflicto en el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Request</a:t>
            </a:r>
            <a:r>
              <a:rPr lang="es-ES" dirty="0"/>
              <a:t>, el estudiante debe volver a su rama local.</a:t>
            </a:r>
          </a:p>
          <a:p>
            <a:pPr>
              <a:buFont typeface="+mj-lt"/>
              <a:buAutoNum type="arabicPeriod"/>
            </a:pPr>
            <a:r>
              <a:rPr lang="es-ES" dirty="0"/>
              <a:t>Ejecuta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pull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origin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 para traer los cambios del compañero. Git marcará las líneas en conflicto.</a:t>
            </a:r>
          </a:p>
          <a:p>
            <a:pPr>
              <a:buFont typeface="+mj-lt"/>
              <a:buAutoNum type="arabicPeriod"/>
            </a:pPr>
            <a:r>
              <a:rPr lang="es-ES" dirty="0"/>
              <a:t>Abre el archivo </a:t>
            </a:r>
            <a:r>
              <a:rPr lang="es-ES" dirty="0" err="1">
                <a:latin typeface="Courier New" panose="02070309020205020404" pitchFamily="49" charset="0"/>
              </a:rPr>
              <a:t>menu.html</a:t>
            </a:r>
            <a:r>
              <a:rPr lang="es-ES" dirty="0"/>
              <a:t> y decide qué versión de la pizza mantener (o combinar ambas, por ejemplo, cambiando el nombre de una).</a:t>
            </a:r>
          </a:p>
          <a:p>
            <a:pPr>
              <a:buFont typeface="+mj-lt"/>
              <a:buAutoNum type="arabicPeriod"/>
            </a:pPr>
            <a:r>
              <a:rPr lang="es-ES" dirty="0"/>
              <a:t>Elimina las marcas de conflicto (</a:t>
            </a:r>
            <a:r>
              <a:rPr lang="es-ES" dirty="0">
                <a:latin typeface="Courier New" panose="02070309020205020404" pitchFamily="49" charset="0"/>
              </a:rPr>
              <a:t>&lt;&lt;&lt;&lt;&lt;&lt;&lt;</a:t>
            </a:r>
            <a:r>
              <a:rPr lang="es-ES" dirty="0"/>
              <a:t>, </a:t>
            </a:r>
            <a:r>
              <a:rPr lang="es-ES" dirty="0">
                <a:latin typeface="Courier New" panose="02070309020205020404" pitchFamily="49" charset="0"/>
              </a:rPr>
              <a:t>=======</a:t>
            </a:r>
            <a:r>
              <a:rPr lang="es-ES" dirty="0"/>
              <a:t>, </a:t>
            </a:r>
            <a:r>
              <a:rPr lang="es-ES" dirty="0">
                <a:latin typeface="Courier New" panose="02070309020205020404" pitchFamily="49" charset="0"/>
              </a:rPr>
              <a:t>&gt;&gt;&gt;&gt;&gt;&gt;&gt;</a:t>
            </a:r>
            <a:r>
              <a:rPr lang="es-ES" dirty="0"/>
              <a:t>).</a:t>
            </a:r>
          </a:p>
          <a:p>
            <a:pPr>
              <a:buFont typeface="+mj-lt"/>
              <a:buAutoNum type="arabicPeriod"/>
            </a:pPr>
            <a:r>
              <a:rPr lang="es-ES" dirty="0"/>
              <a:t>Guarda el archivo, haz un nuevo </a:t>
            </a:r>
            <a:r>
              <a:rPr lang="es-ES" dirty="0" err="1">
                <a:latin typeface="Courier New" panose="02070309020205020404" pitchFamily="49" charset="0"/>
              </a:rPr>
              <a:t>commit</a:t>
            </a:r>
            <a:r>
              <a:rPr lang="es-ES" dirty="0"/>
              <a:t> de resolución y sube los cambios:</a:t>
            </a:r>
          </a:p>
          <a:p>
            <a:r>
              <a:rPr lang="es-ES" dirty="0"/>
              <a:t>     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 .</a:t>
            </a:r>
          </a:p>
          <a:p>
            <a:r>
              <a:rPr lang="es-ES" dirty="0"/>
              <a:t>     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 -m "Resolución de conflicto: Pizza Margarita”</a:t>
            </a:r>
          </a:p>
          <a:p>
            <a:r>
              <a:rPr lang="es-ES" dirty="0"/>
              <a:t>     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tu-nombre-pizza</a:t>
            </a:r>
          </a:p>
          <a:p>
            <a:r>
              <a:rPr lang="es-ES" dirty="0"/>
              <a:t>6. El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Request</a:t>
            </a:r>
            <a:r>
              <a:rPr lang="es-ES" dirty="0"/>
              <a:t> en GitHub se actualizará automáticamente y mostrará que el conflicto ha sido resuelto.</a:t>
            </a:r>
          </a:p>
        </p:txBody>
      </p:sp>
    </p:spTree>
    <p:extLst>
      <p:ext uri="{BB962C8B-B14F-4D97-AF65-F5344CB8AC3E}">
        <p14:creationId xmlns:p14="http://schemas.microsoft.com/office/powerpoint/2010/main" val="2854810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497A-2AD7-675F-5E0A-F83E5149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6960E41-C638-CD98-B651-863C37CEB4B4}"/>
              </a:ext>
            </a:extLst>
          </p:cNvPr>
          <p:cNvSpPr txBox="1"/>
          <p:nvPr/>
        </p:nvSpPr>
        <p:spPr>
          <a:xfrm>
            <a:off x="655521" y="1981187"/>
            <a:ext cx="106987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Cierre del Ejercicio </a:t>
            </a:r>
            <a:r>
              <a:rPr lang="es-001" b="1" dirty="0"/>
              <a:t>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Una vez que todos los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Requests</a:t>
            </a:r>
            <a:r>
              <a:rPr lang="es-ES" dirty="0"/>
              <a:t> hayan sido revisados y fusionados, el profesor mostrará el menú finalizado.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Preguntas para la clase</a:t>
            </a:r>
            <a:r>
              <a:rPr lang="es-E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¿Qué fue lo más fácil del proceso?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¿Qué fue lo más difícil?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¿Cómo se sintió resolver un conflicto?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Este ejercicio muestra cómo la comunicación y el uso correcto de Git son clave para trabajar en un proyecto compartido sin sobrescribir el trabajo de los demás.</a:t>
            </a:r>
          </a:p>
        </p:txBody>
      </p:sp>
    </p:spTree>
    <p:extLst>
      <p:ext uri="{BB962C8B-B14F-4D97-AF65-F5344CB8AC3E}">
        <p14:creationId xmlns:p14="http://schemas.microsoft.com/office/powerpoint/2010/main" val="41433003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1064</Words>
  <Application>Microsoft Macintosh PowerPoint</Application>
  <PresentationFormat>Panorámica</PresentationFormat>
  <Paragraphs>112</Paragraphs>
  <Slides>13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Courier New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esteban</cp:lastModifiedBy>
  <cp:revision>18</cp:revision>
  <dcterms:created xsi:type="dcterms:W3CDTF">2024-01-22T15:06:30Z</dcterms:created>
  <dcterms:modified xsi:type="dcterms:W3CDTF">2025-08-27T02:24:26Z</dcterms:modified>
</cp:coreProperties>
</file>