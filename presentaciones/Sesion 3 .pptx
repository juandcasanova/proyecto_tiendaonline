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embeddedFontLst>
    <p:embeddedFont>
      <p:font typeface="Mukta Light" panose="020B0000000000000000" pitchFamily="34" charset="77"/>
      <p:regular r:id="rId14"/>
    </p:embeddedFont>
    <p:embeddedFont>
      <p:font typeface="Prompt Medium" panose="020B0604020202020204" pitchFamily="34" charset="0"/>
      <p:regular r:id="rId15"/>
    </p:embeddedFont>
  </p:embeddedFontLst>
  <p:defaultTextStyle>
    <a:defPPr>
      <a:defRPr lang="es-001"/>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811"/>
    <p:restoredTop sz="94610"/>
  </p:normalViewPr>
  <p:slideViewPr>
    <p:cSldViewPr snapToGrid="0" snapToObjects="1">
      <p:cViewPr varScale="1">
        <p:scale>
          <a:sx n="184" d="100"/>
          <a:sy n="184" d="100"/>
        </p:scale>
        <p:origin x="71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732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6A9D2-C677-5B0A-8F81-B3424B4DF1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7C9FB-F86D-CD96-155A-D7F6835F93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5FEE29-3E7E-7FA4-6931-0DFF4A43941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130BC6-E280-52F8-9041-DC47DD6D0E3B}"/>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4830617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B0C23">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1.xml"/><Relationship Id="rId5" Type="http://schemas.openxmlformats.org/officeDocument/2006/relationships/hyperlink" Target="https://goo.gl/maps/iqygE491ADVgnBW39" TargetMode="External"/><Relationship Id="rId4" Type="http://schemas.openxmlformats.org/officeDocument/2006/relationships/hyperlink" Target="https://restcountries.com/v3.1/region/europe"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81063" y="3161348"/>
            <a:ext cx="7381875" cy="1223963"/>
          </a:xfrm>
          <a:prstGeom prst="rect">
            <a:avLst/>
          </a:prstGeom>
          <a:noFill/>
          <a:ln/>
        </p:spPr>
        <p:txBody>
          <a:bodyPr wrap="square" lIns="0" tIns="0" rIns="0" bIns="0" rtlCol="0" anchor="t"/>
          <a:lstStyle/>
          <a:p>
            <a:pPr marL="0" indent="0" algn="l">
              <a:lnSpc>
                <a:spcPts val="4800"/>
              </a:lnSpc>
              <a:buNone/>
            </a:pPr>
            <a:r>
              <a:rPr lang="en-US" sz="3850" dirty="0">
                <a:solidFill>
                  <a:srgbClr val="C6BFEE"/>
                </a:solidFill>
                <a:latin typeface="Prompt Medium" pitchFamily="34" charset="0"/>
                <a:ea typeface="Prompt Medium" pitchFamily="34" charset="-122"/>
                <a:cs typeface="Prompt Medium" pitchFamily="34" charset="-120"/>
              </a:rPr>
              <a:t>Algoritmos de Búsqueda: Lineal y Binaria</a:t>
            </a:r>
            <a:endParaRPr lang="en-US" sz="3850" dirty="0"/>
          </a:p>
        </p:txBody>
      </p:sp>
      <p:sp>
        <p:nvSpPr>
          <p:cNvPr id="4" name="Text 1"/>
          <p:cNvSpPr/>
          <p:nvPr/>
        </p:nvSpPr>
        <p:spPr>
          <a:xfrm>
            <a:off x="881063" y="4715708"/>
            <a:ext cx="7381875" cy="352425"/>
          </a:xfrm>
          <a:prstGeom prst="rect">
            <a:avLst/>
          </a:prstGeom>
          <a:noFill/>
          <a:ln/>
        </p:spPr>
        <p:txBody>
          <a:bodyPr wrap="none" lIns="0" tIns="0" rIns="0" bIns="0" rtlCol="0" anchor="t"/>
          <a:lstStyle/>
          <a:p>
            <a:pPr marL="0" indent="0" algn="ctr">
              <a:lnSpc>
                <a:spcPts val="2750"/>
              </a:lnSpc>
              <a:buNone/>
            </a:pPr>
            <a:r>
              <a:rPr lang="en-US" sz="1700" dirty="0">
                <a:solidFill>
                  <a:srgbClr val="DAD8E9"/>
                </a:solidFill>
                <a:latin typeface="Mukta Light" pitchFamily="34" charset="0"/>
                <a:ea typeface="Mukta Light" pitchFamily="34" charset="-122"/>
                <a:cs typeface="Mukta Light" pitchFamily="34" charset="-120"/>
              </a:rPr>
              <a:t>Una guía práctica para entender la eficiencia en la búsqueda de datos.</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705469" y="1562219"/>
            <a:ext cx="5219343" cy="305991"/>
          </a:xfrm>
          <a:prstGeom prst="rect">
            <a:avLst/>
          </a:prstGeom>
          <a:noFill/>
          <a:ln/>
        </p:spPr>
        <p:txBody>
          <a:bodyPr wrap="none" lIns="0" tIns="0" rIns="0" bIns="0" rtlCol="0" anchor="t"/>
          <a:lstStyle/>
          <a:p>
            <a:pPr marL="0" indent="0" algn="ctr">
              <a:lnSpc>
                <a:spcPts val="2400"/>
              </a:lnSpc>
              <a:buNone/>
            </a:pPr>
            <a:r>
              <a:rPr lang="en-US" sz="1900" dirty="0">
                <a:solidFill>
                  <a:srgbClr val="C6BFEE"/>
                </a:solidFill>
                <a:latin typeface="Prompt Medium" pitchFamily="34" charset="0"/>
                <a:ea typeface="Prompt Medium" pitchFamily="34" charset="-122"/>
                <a:cs typeface="Prompt Medium" pitchFamily="34" charset="-120"/>
              </a:rPr>
              <a:t>Introducción a los Algoritmos de Búsqueda</a:t>
            </a:r>
            <a:endParaRPr lang="en-US" sz="1900" dirty="0"/>
          </a:p>
        </p:txBody>
      </p:sp>
      <p:sp>
        <p:nvSpPr>
          <p:cNvPr id="3" name="Text 1"/>
          <p:cNvSpPr/>
          <p:nvPr/>
        </p:nvSpPr>
        <p:spPr>
          <a:xfrm>
            <a:off x="881063" y="2088475"/>
            <a:ext cx="7119104" cy="489466"/>
          </a:xfrm>
          <a:prstGeom prst="rect">
            <a:avLst/>
          </a:prstGeom>
          <a:noFill/>
          <a:ln/>
        </p:spPr>
        <p:txBody>
          <a:bodyPr wrap="none" lIns="0" tIns="0" rIns="0" bIns="0" rtlCol="0" anchor="t"/>
          <a:lstStyle/>
          <a:p>
            <a:pPr marL="0" indent="0" algn="l">
              <a:lnSpc>
                <a:spcPts val="3850"/>
              </a:lnSpc>
              <a:buNone/>
            </a:pPr>
            <a:r>
              <a:rPr lang="en-US" sz="3050" dirty="0">
                <a:solidFill>
                  <a:srgbClr val="C6BFEE"/>
                </a:solidFill>
                <a:latin typeface="Prompt Medium" pitchFamily="34" charset="0"/>
                <a:ea typeface="Prompt Medium" pitchFamily="34" charset="-122"/>
                <a:cs typeface="Prompt Medium" pitchFamily="34" charset="-120"/>
              </a:rPr>
              <a:t>¿Qué es un Algoritmo de Búsqueda?</a:t>
            </a:r>
            <a:endParaRPr lang="en-US" sz="3050" dirty="0"/>
          </a:p>
        </p:txBody>
      </p:sp>
      <p:sp>
        <p:nvSpPr>
          <p:cNvPr id="4" name="Shape 2"/>
          <p:cNvSpPr/>
          <p:nvPr/>
        </p:nvSpPr>
        <p:spPr>
          <a:xfrm>
            <a:off x="881063" y="2908340"/>
            <a:ext cx="4142542" cy="3759041"/>
          </a:xfrm>
          <a:prstGeom prst="roundRect">
            <a:avLst>
              <a:gd name="adj" fmla="val 2461"/>
            </a:avLst>
          </a:prstGeom>
          <a:solidFill>
            <a:srgbClr val="0B0C23">
              <a:alpha val="95000"/>
            </a:srgbClr>
          </a:solidFill>
          <a:ln w="30480">
            <a:solidFill>
              <a:srgbClr val="6D4562"/>
            </a:solidFill>
            <a:prstDash val="solid"/>
          </a:ln>
        </p:spPr>
      </p:sp>
      <p:sp>
        <p:nvSpPr>
          <p:cNvPr id="5" name="Shape 3"/>
          <p:cNvSpPr/>
          <p:nvPr/>
        </p:nvSpPr>
        <p:spPr>
          <a:xfrm>
            <a:off x="881063" y="2908340"/>
            <a:ext cx="121920" cy="3759041"/>
          </a:xfrm>
          <a:prstGeom prst="roundRect">
            <a:avLst>
              <a:gd name="adj" fmla="val 75889"/>
            </a:avLst>
          </a:prstGeom>
          <a:solidFill>
            <a:srgbClr val="A95B95"/>
          </a:solidFill>
          <a:ln/>
        </p:spPr>
      </p:sp>
      <p:sp>
        <p:nvSpPr>
          <p:cNvPr id="6" name="Text 4"/>
          <p:cNvSpPr/>
          <p:nvPr/>
        </p:nvSpPr>
        <p:spPr>
          <a:xfrm>
            <a:off x="1253728" y="3159085"/>
            <a:ext cx="2447687" cy="305991"/>
          </a:xfrm>
          <a:prstGeom prst="rect">
            <a:avLst/>
          </a:prstGeom>
          <a:noFill/>
          <a:ln/>
        </p:spPr>
        <p:txBody>
          <a:bodyPr wrap="none" lIns="0" tIns="0" rIns="0" bIns="0" rtlCol="0" anchor="t"/>
          <a:lstStyle/>
          <a:p>
            <a:pPr marL="0" indent="0" algn="l">
              <a:lnSpc>
                <a:spcPts val="2400"/>
              </a:lnSpc>
              <a:buNone/>
            </a:pPr>
            <a:r>
              <a:rPr lang="en-US" sz="1900" dirty="0">
                <a:solidFill>
                  <a:srgbClr val="DAD8E9"/>
                </a:solidFill>
                <a:latin typeface="Prompt Medium" pitchFamily="34" charset="0"/>
                <a:ea typeface="Prompt Medium" pitchFamily="34" charset="-122"/>
                <a:cs typeface="Prompt Medium" pitchFamily="34" charset="-120"/>
              </a:rPr>
              <a:t>Definición Clave</a:t>
            </a:r>
            <a:endParaRPr lang="en-US" sz="1900" dirty="0"/>
          </a:p>
        </p:txBody>
      </p:sp>
      <p:sp>
        <p:nvSpPr>
          <p:cNvPr id="7" name="Text 5"/>
          <p:cNvSpPr/>
          <p:nvPr/>
        </p:nvSpPr>
        <p:spPr>
          <a:xfrm>
            <a:off x="1253728" y="3597235"/>
            <a:ext cx="3519130" cy="1762125"/>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Un algoritmo de búsqueda es un proceso diseñado para </a:t>
            </a:r>
            <a:r>
              <a:rPr lang="en-US" sz="1700" b="1" dirty="0">
                <a:solidFill>
                  <a:srgbClr val="DAD8E9"/>
                </a:solidFill>
                <a:latin typeface="Mukta Light" pitchFamily="34" charset="0"/>
                <a:ea typeface="Mukta Light" pitchFamily="34" charset="-122"/>
                <a:cs typeface="Mukta Light" pitchFamily="34" charset="-120"/>
              </a:rPr>
              <a:t>localizar un elemento específico</a:t>
            </a:r>
            <a:r>
              <a:rPr lang="en-US" sz="1700" dirty="0">
                <a:solidFill>
                  <a:srgbClr val="DAD8E9"/>
                </a:solidFill>
                <a:latin typeface="Mukta Light" pitchFamily="34" charset="0"/>
                <a:ea typeface="Mukta Light" pitchFamily="34" charset="-122"/>
                <a:cs typeface="Mukta Light" pitchFamily="34" charset="-120"/>
              </a:rPr>
              <a:t> dentro de una estructura de datos, como una lista, un array o una base de datos.</a:t>
            </a:r>
            <a:endParaRPr lang="en-US" sz="1700" dirty="0"/>
          </a:p>
        </p:txBody>
      </p:sp>
      <p:sp>
        <p:nvSpPr>
          <p:cNvPr id="8" name="Shape 6"/>
          <p:cNvSpPr/>
          <p:nvPr/>
        </p:nvSpPr>
        <p:spPr>
          <a:xfrm>
            <a:off x="5243870" y="2908340"/>
            <a:ext cx="4142542" cy="3759041"/>
          </a:xfrm>
          <a:prstGeom prst="roundRect">
            <a:avLst>
              <a:gd name="adj" fmla="val 2461"/>
            </a:avLst>
          </a:prstGeom>
          <a:solidFill>
            <a:srgbClr val="0B0C23">
              <a:alpha val="95000"/>
            </a:srgbClr>
          </a:solidFill>
          <a:ln w="30480">
            <a:solidFill>
              <a:srgbClr val="6D4562"/>
            </a:solidFill>
            <a:prstDash val="solid"/>
          </a:ln>
        </p:spPr>
      </p:sp>
      <p:sp>
        <p:nvSpPr>
          <p:cNvPr id="9" name="Shape 7"/>
          <p:cNvSpPr/>
          <p:nvPr/>
        </p:nvSpPr>
        <p:spPr>
          <a:xfrm>
            <a:off x="5243870" y="2908340"/>
            <a:ext cx="121920" cy="3759041"/>
          </a:xfrm>
          <a:prstGeom prst="roundRect">
            <a:avLst>
              <a:gd name="adj" fmla="val 75889"/>
            </a:avLst>
          </a:prstGeom>
          <a:solidFill>
            <a:srgbClr val="A95B95"/>
          </a:solidFill>
          <a:ln/>
        </p:spPr>
      </p:sp>
      <p:sp>
        <p:nvSpPr>
          <p:cNvPr id="10" name="Text 8"/>
          <p:cNvSpPr/>
          <p:nvPr/>
        </p:nvSpPr>
        <p:spPr>
          <a:xfrm>
            <a:off x="5616535" y="3159085"/>
            <a:ext cx="2447687" cy="305991"/>
          </a:xfrm>
          <a:prstGeom prst="rect">
            <a:avLst/>
          </a:prstGeom>
          <a:noFill/>
          <a:ln/>
        </p:spPr>
        <p:txBody>
          <a:bodyPr wrap="none" lIns="0" tIns="0" rIns="0" bIns="0" rtlCol="0" anchor="t"/>
          <a:lstStyle/>
          <a:p>
            <a:pPr marL="0" indent="0" algn="l">
              <a:lnSpc>
                <a:spcPts val="2400"/>
              </a:lnSpc>
              <a:buNone/>
            </a:pPr>
            <a:r>
              <a:rPr lang="en-US" sz="1900" dirty="0">
                <a:solidFill>
                  <a:srgbClr val="DAD8E9"/>
                </a:solidFill>
                <a:latin typeface="Prompt Medium" pitchFamily="34" charset="0"/>
                <a:ea typeface="Prompt Medium" pitchFamily="34" charset="-122"/>
                <a:cs typeface="Prompt Medium" pitchFamily="34" charset="-120"/>
              </a:rPr>
              <a:t>Analogía Sencilla</a:t>
            </a:r>
            <a:endParaRPr lang="en-US" sz="1900" dirty="0"/>
          </a:p>
        </p:txBody>
      </p:sp>
      <p:sp>
        <p:nvSpPr>
          <p:cNvPr id="11" name="Text 9"/>
          <p:cNvSpPr/>
          <p:nvPr/>
        </p:nvSpPr>
        <p:spPr>
          <a:xfrm>
            <a:off x="5616535" y="3597235"/>
            <a:ext cx="3519130" cy="21145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Imagina que buscas un libro en una biblioteca. Dependiendo de cómo estén organizados los libros (o no organizados), usarás diferentes estrategias para encontrarlo. Lo mismo ocurre con los datos en programación.</a:t>
            </a:r>
            <a:endParaRPr lang="en-US" sz="1700" dirty="0"/>
          </a:p>
        </p:txBody>
      </p:sp>
      <p:sp>
        <p:nvSpPr>
          <p:cNvPr id="12" name="Shape 10"/>
          <p:cNvSpPr/>
          <p:nvPr/>
        </p:nvSpPr>
        <p:spPr>
          <a:xfrm>
            <a:off x="9606677" y="2908340"/>
            <a:ext cx="4142542" cy="3759041"/>
          </a:xfrm>
          <a:prstGeom prst="roundRect">
            <a:avLst>
              <a:gd name="adj" fmla="val 2461"/>
            </a:avLst>
          </a:prstGeom>
          <a:solidFill>
            <a:srgbClr val="0B0C23">
              <a:alpha val="95000"/>
            </a:srgbClr>
          </a:solidFill>
          <a:ln w="30480">
            <a:solidFill>
              <a:srgbClr val="6D4562"/>
            </a:solidFill>
            <a:prstDash val="solid"/>
          </a:ln>
        </p:spPr>
      </p:sp>
      <p:sp>
        <p:nvSpPr>
          <p:cNvPr id="13" name="Shape 11"/>
          <p:cNvSpPr/>
          <p:nvPr/>
        </p:nvSpPr>
        <p:spPr>
          <a:xfrm>
            <a:off x="9606677" y="2908340"/>
            <a:ext cx="121920" cy="3759041"/>
          </a:xfrm>
          <a:prstGeom prst="roundRect">
            <a:avLst>
              <a:gd name="adj" fmla="val 75889"/>
            </a:avLst>
          </a:prstGeom>
          <a:solidFill>
            <a:srgbClr val="A95B95"/>
          </a:solidFill>
          <a:ln/>
        </p:spPr>
      </p:sp>
      <p:sp>
        <p:nvSpPr>
          <p:cNvPr id="14" name="Text 12"/>
          <p:cNvSpPr/>
          <p:nvPr/>
        </p:nvSpPr>
        <p:spPr>
          <a:xfrm>
            <a:off x="9979343" y="3159085"/>
            <a:ext cx="2447687" cy="305991"/>
          </a:xfrm>
          <a:prstGeom prst="rect">
            <a:avLst/>
          </a:prstGeom>
          <a:noFill/>
          <a:ln/>
        </p:spPr>
        <p:txBody>
          <a:bodyPr wrap="none" lIns="0" tIns="0" rIns="0" bIns="0" rtlCol="0" anchor="t"/>
          <a:lstStyle/>
          <a:p>
            <a:pPr marL="0" indent="0" algn="l">
              <a:lnSpc>
                <a:spcPts val="2400"/>
              </a:lnSpc>
              <a:buNone/>
            </a:pPr>
            <a:r>
              <a:rPr lang="en-US" sz="1900" dirty="0">
                <a:solidFill>
                  <a:srgbClr val="DAD8E9"/>
                </a:solidFill>
                <a:latin typeface="Prompt Medium" pitchFamily="34" charset="0"/>
                <a:ea typeface="Prompt Medium" pitchFamily="34" charset="-122"/>
                <a:cs typeface="Prompt Medium" pitchFamily="34" charset="-120"/>
              </a:rPr>
              <a:t>Importancia Crítica</a:t>
            </a:r>
            <a:endParaRPr lang="en-US" sz="1900" dirty="0"/>
          </a:p>
        </p:txBody>
      </p:sp>
      <p:sp>
        <p:nvSpPr>
          <p:cNvPr id="15" name="Text 13"/>
          <p:cNvSpPr/>
          <p:nvPr/>
        </p:nvSpPr>
        <p:spPr>
          <a:xfrm>
            <a:off x="9979343" y="3597235"/>
            <a:ext cx="3519130" cy="281940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La eficiencia de estos algoritmos es fundamental para la </a:t>
            </a:r>
            <a:r>
              <a:rPr lang="en-US" sz="1700" b="1" dirty="0">
                <a:solidFill>
                  <a:srgbClr val="DAD8E9"/>
                </a:solidFill>
                <a:latin typeface="Mukta Light" pitchFamily="34" charset="0"/>
                <a:ea typeface="Mukta Light" pitchFamily="34" charset="-122"/>
                <a:cs typeface="Mukta Light" pitchFamily="34" charset="-120"/>
              </a:rPr>
              <a:t>optimización</a:t>
            </a:r>
            <a:r>
              <a:rPr lang="en-US" sz="1700" dirty="0">
                <a:solidFill>
                  <a:srgbClr val="DAD8E9"/>
                </a:solidFill>
                <a:latin typeface="Mukta Light" pitchFamily="34" charset="0"/>
                <a:ea typeface="Mukta Light" pitchFamily="34" charset="-122"/>
                <a:cs typeface="Mukta Light" pitchFamily="34" charset="-120"/>
              </a:rPr>
              <a:t> de cualquier aplicación. Un buen algoritmo puede significar la diferencia entre una operación instantánea y una que tarde minutos u horas en completarse, especialmente con grandes volúmenes de datos.</a:t>
            </a:r>
            <a:endParaRPr lang="en-US" sz="1700" dirty="0"/>
          </a:p>
        </p:txBody>
      </p:sp>
      <p:pic>
        <p:nvPicPr>
          <p:cNvPr id="16" name="Imagen 15">
            <a:extLst>
              <a:ext uri="{FF2B5EF4-FFF2-40B4-BE49-F238E27FC236}">
                <a16:creationId xmlns:a16="http://schemas.microsoft.com/office/drawing/2014/main" id="{A8245DDB-B1D1-51D2-55D4-3E3FCAFBAA96}"/>
              </a:ext>
            </a:extLst>
          </p:cNvPr>
          <p:cNvPicPr>
            <a:picLocks noChangeAspect="1"/>
          </p:cNvPicPr>
          <p:nvPr/>
        </p:nvPicPr>
        <p:blipFill>
          <a:blip r:embed="rId3"/>
          <a:stretch>
            <a:fillRect/>
          </a:stretch>
        </p:blipFill>
        <p:spPr>
          <a:xfrm>
            <a:off x="11112500" y="7356276"/>
            <a:ext cx="3517900" cy="8763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83480" y="2183487"/>
            <a:ext cx="4663321" cy="305991"/>
          </a:xfrm>
          <a:prstGeom prst="rect">
            <a:avLst/>
          </a:prstGeom>
          <a:noFill/>
          <a:ln/>
        </p:spPr>
        <p:txBody>
          <a:bodyPr wrap="none" lIns="0" tIns="0" rIns="0" bIns="0" rtlCol="0" anchor="t"/>
          <a:lstStyle/>
          <a:p>
            <a:pPr marL="0" indent="0" algn="ctr">
              <a:lnSpc>
                <a:spcPts val="2400"/>
              </a:lnSpc>
              <a:buNone/>
            </a:pPr>
            <a:r>
              <a:rPr lang="en-US" sz="1900" dirty="0">
                <a:solidFill>
                  <a:srgbClr val="C6BFEE"/>
                </a:solidFill>
                <a:latin typeface="Prompt Medium" pitchFamily="34" charset="0"/>
                <a:ea typeface="Prompt Medium" pitchFamily="34" charset="-122"/>
                <a:cs typeface="Prompt Medium" pitchFamily="34" charset="-120"/>
              </a:rPr>
              <a:t>Primer Enfoque: Sencillo pero Limitado</a:t>
            </a:r>
            <a:endParaRPr lang="en-US" sz="1900" dirty="0"/>
          </a:p>
        </p:txBody>
      </p:sp>
      <p:sp>
        <p:nvSpPr>
          <p:cNvPr id="3" name="Text 1"/>
          <p:cNvSpPr/>
          <p:nvPr/>
        </p:nvSpPr>
        <p:spPr>
          <a:xfrm>
            <a:off x="881063" y="2709743"/>
            <a:ext cx="5989677" cy="489466"/>
          </a:xfrm>
          <a:prstGeom prst="rect">
            <a:avLst/>
          </a:prstGeom>
          <a:noFill/>
          <a:ln/>
        </p:spPr>
        <p:txBody>
          <a:bodyPr wrap="none" lIns="0" tIns="0" rIns="0" bIns="0" rtlCol="0" anchor="t"/>
          <a:lstStyle/>
          <a:p>
            <a:pPr marL="0" indent="0" algn="l">
              <a:lnSpc>
                <a:spcPts val="3850"/>
              </a:lnSpc>
              <a:buNone/>
            </a:pPr>
            <a:r>
              <a:rPr lang="en-US" sz="3050" dirty="0">
                <a:solidFill>
                  <a:srgbClr val="C6BFEE"/>
                </a:solidFill>
                <a:latin typeface="Prompt Medium" pitchFamily="34" charset="0"/>
                <a:ea typeface="Prompt Medium" pitchFamily="34" charset="-122"/>
                <a:cs typeface="Prompt Medium" pitchFamily="34" charset="-120"/>
              </a:rPr>
              <a:t>Búsqueda Lineal (o Secuencial)</a:t>
            </a:r>
            <a:endParaRPr lang="en-US" sz="3050" dirty="0"/>
          </a:p>
        </p:txBody>
      </p:sp>
      <p:sp>
        <p:nvSpPr>
          <p:cNvPr id="4" name="Text 2"/>
          <p:cNvSpPr/>
          <p:nvPr/>
        </p:nvSpPr>
        <p:spPr>
          <a:xfrm>
            <a:off x="881063" y="3529608"/>
            <a:ext cx="12868275"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La búsqueda lineal es el algoritmo de búsqueda más básico y fácil de entender. Es como buscar una palabra en un diccionario si este no tuviera un orden alfabético: simplemente revisas cada entrada una por una hasta que encuentras lo que buscas o llegas al final.</a:t>
            </a:r>
            <a:endParaRPr lang="en-US" sz="1700" dirty="0"/>
          </a:p>
        </p:txBody>
      </p:sp>
      <p:sp>
        <p:nvSpPr>
          <p:cNvPr id="5" name="Text 3"/>
          <p:cNvSpPr/>
          <p:nvPr/>
        </p:nvSpPr>
        <p:spPr>
          <a:xfrm>
            <a:off x="881063" y="4482227"/>
            <a:ext cx="12868275" cy="352425"/>
          </a:xfrm>
          <a:prstGeom prst="rect">
            <a:avLst/>
          </a:prstGeom>
          <a:noFill/>
          <a:ln/>
        </p:spPr>
        <p:txBody>
          <a:bodyPr wrap="none" lIns="0" tIns="0" rIns="0" bIns="0" rtlCol="0" anchor="t"/>
          <a:lstStyle/>
          <a:p>
            <a:pPr marL="342900" indent="-342900" algn="l">
              <a:lnSpc>
                <a:spcPts val="2750"/>
              </a:lnSpc>
              <a:buSzPct val="100000"/>
              <a:buChar char="•"/>
            </a:pPr>
            <a:r>
              <a:rPr lang="en-US" sz="1700" b="1" dirty="0">
                <a:solidFill>
                  <a:srgbClr val="DAD8E9"/>
                </a:solidFill>
                <a:latin typeface="Mukta Light" pitchFamily="34" charset="0"/>
                <a:ea typeface="Mukta Light" pitchFamily="34" charset="-122"/>
                <a:cs typeface="Mukta Light" pitchFamily="34" charset="-120"/>
              </a:rPr>
              <a:t>Concepto Principal:</a:t>
            </a:r>
            <a:r>
              <a:rPr lang="en-US" sz="1700" dirty="0">
                <a:solidFill>
                  <a:srgbClr val="DAD8E9"/>
                </a:solidFill>
                <a:latin typeface="Mukta Light" pitchFamily="34" charset="0"/>
                <a:ea typeface="Mukta Light" pitchFamily="34" charset="-122"/>
                <a:cs typeface="Mukta Light" pitchFamily="34" charset="-120"/>
              </a:rPr>
              <a:t> Recorre cada elemento de la lista, desde el inicio hasta el final, comparando cada uno con el valor que se busca.</a:t>
            </a:r>
            <a:endParaRPr lang="en-US" sz="1700" dirty="0"/>
          </a:p>
        </p:txBody>
      </p:sp>
      <p:sp>
        <p:nvSpPr>
          <p:cNvPr id="6" name="Text 4"/>
          <p:cNvSpPr/>
          <p:nvPr/>
        </p:nvSpPr>
        <p:spPr>
          <a:xfrm>
            <a:off x="881063" y="4911685"/>
            <a:ext cx="12868275" cy="352425"/>
          </a:xfrm>
          <a:prstGeom prst="rect">
            <a:avLst/>
          </a:prstGeom>
          <a:noFill/>
          <a:ln/>
        </p:spPr>
        <p:txBody>
          <a:bodyPr wrap="none" lIns="0" tIns="0" rIns="0" bIns="0" rtlCol="0" anchor="t"/>
          <a:lstStyle/>
          <a:p>
            <a:pPr marL="342900" indent="-342900" algn="l">
              <a:lnSpc>
                <a:spcPts val="2750"/>
              </a:lnSpc>
              <a:buSzPct val="100000"/>
              <a:buChar char="•"/>
            </a:pPr>
            <a:r>
              <a:rPr lang="en-US" sz="1700" b="1" dirty="0">
                <a:solidFill>
                  <a:srgbClr val="DAD8E9"/>
                </a:solidFill>
                <a:latin typeface="Mukta Light" pitchFamily="34" charset="0"/>
                <a:ea typeface="Mukta Light" pitchFamily="34" charset="-122"/>
                <a:cs typeface="Mukta Light" pitchFamily="34" charset="-120"/>
              </a:rPr>
              <a:t>Requisito:</a:t>
            </a:r>
            <a:r>
              <a:rPr lang="en-US" sz="1700" dirty="0">
                <a:solidFill>
                  <a:srgbClr val="DAD8E9"/>
                </a:solidFill>
                <a:latin typeface="Mukta Light" pitchFamily="34" charset="0"/>
                <a:ea typeface="Mukta Light" pitchFamily="34" charset="-122"/>
                <a:cs typeface="Mukta Light" pitchFamily="34" charset="-120"/>
              </a:rPr>
              <a:t> La lista </a:t>
            </a:r>
            <a:r>
              <a:rPr lang="en-US" sz="1700" b="1" dirty="0">
                <a:solidFill>
                  <a:srgbClr val="DAD8E9"/>
                </a:solidFill>
                <a:latin typeface="Mukta Light" pitchFamily="34" charset="0"/>
                <a:ea typeface="Mukta Light" pitchFamily="34" charset="-122"/>
                <a:cs typeface="Mukta Light" pitchFamily="34" charset="-120"/>
              </a:rPr>
              <a:t>no necesita estar ordenada</a:t>
            </a:r>
            <a:r>
              <a:rPr lang="en-US" sz="1700" dirty="0">
                <a:solidFill>
                  <a:srgbClr val="DAD8E9"/>
                </a:solidFill>
                <a:latin typeface="Mukta Light" pitchFamily="34" charset="0"/>
                <a:ea typeface="Mukta Light" pitchFamily="34" charset="-122"/>
                <a:cs typeface="Mukta Light" pitchFamily="34" charset="-120"/>
              </a:rPr>
              <a:t>. Esto la hace versátil para cualquier conjunto de datos inicial.</a:t>
            </a:r>
            <a:endParaRPr lang="en-US" sz="1700" dirty="0"/>
          </a:p>
        </p:txBody>
      </p:sp>
      <p:sp>
        <p:nvSpPr>
          <p:cNvPr id="7" name="Text 5"/>
          <p:cNvSpPr/>
          <p:nvPr/>
        </p:nvSpPr>
        <p:spPr>
          <a:xfrm>
            <a:off x="881063" y="5341144"/>
            <a:ext cx="12868275" cy="704850"/>
          </a:xfrm>
          <a:prstGeom prst="rect">
            <a:avLst/>
          </a:prstGeom>
          <a:noFill/>
          <a:ln/>
        </p:spPr>
        <p:txBody>
          <a:bodyPr wrap="square" lIns="0" tIns="0" rIns="0" bIns="0" rtlCol="0" anchor="t"/>
          <a:lstStyle/>
          <a:p>
            <a:pPr marL="342900" indent="-342900" algn="l">
              <a:lnSpc>
                <a:spcPts val="2750"/>
              </a:lnSpc>
              <a:buSzPct val="100000"/>
              <a:buChar char="•"/>
            </a:pPr>
            <a:r>
              <a:rPr lang="en-US" sz="1700" b="1" dirty="0">
                <a:solidFill>
                  <a:srgbClr val="DAD8E9"/>
                </a:solidFill>
                <a:latin typeface="Mukta Light" pitchFamily="34" charset="0"/>
                <a:ea typeface="Mukta Light" pitchFamily="34" charset="-122"/>
                <a:cs typeface="Mukta Light" pitchFamily="34" charset="-120"/>
              </a:rPr>
              <a:t>Complejidad:</a:t>
            </a:r>
            <a:r>
              <a:rPr lang="en-US" sz="1700" dirty="0">
                <a:solidFill>
                  <a:srgbClr val="DAD8E9"/>
                </a:solidFill>
                <a:latin typeface="Mukta Light" pitchFamily="34" charset="0"/>
                <a:ea typeface="Mukta Light" pitchFamily="34" charset="-122"/>
                <a:cs typeface="Mukta Light" pitchFamily="34" charset="-120"/>
              </a:rPr>
              <a:t> Su eficiencia se mide como O(n), lo que significa que, en el peor de los casos, necesita revisar todos los 'n' elementos de la lista. Esto la hace </a:t>
            </a:r>
            <a:r>
              <a:rPr lang="en-US" sz="1700" b="1" dirty="0">
                <a:solidFill>
                  <a:srgbClr val="DAD8E9"/>
                </a:solidFill>
                <a:latin typeface="Mukta Light" pitchFamily="34" charset="0"/>
                <a:ea typeface="Mukta Light" pitchFamily="34" charset="-122"/>
                <a:cs typeface="Mukta Light" pitchFamily="34" charset="-120"/>
              </a:rPr>
              <a:t>ineficiente para listas muy grandes</a:t>
            </a:r>
            <a:r>
              <a:rPr lang="en-US" sz="1700" dirty="0">
                <a:solidFill>
                  <a:srgbClr val="DAD8E9"/>
                </a:solidFill>
                <a:latin typeface="Mukta Light" pitchFamily="34" charset="0"/>
                <a:ea typeface="Mukta Light" pitchFamily="34" charset="-122"/>
                <a:cs typeface="Mukta Light" pitchFamily="34" charset="-120"/>
              </a:rPr>
              <a:t>.</a:t>
            </a:r>
            <a:endParaRPr lang="en-US" sz="1700" dirty="0"/>
          </a:p>
        </p:txBody>
      </p:sp>
      <p:pic>
        <p:nvPicPr>
          <p:cNvPr id="8" name="Imagen 7">
            <a:extLst>
              <a:ext uri="{FF2B5EF4-FFF2-40B4-BE49-F238E27FC236}">
                <a16:creationId xmlns:a16="http://schemas.microsoft.com/office/drawing/2014/main" id="{B7A0DF7A-07F3-1223-B46A-A16DEB3D0E2D}"/>
              </a:ext>
            </a:extLst>
          </p:cNvPr>
          <p:cNvPicPr>
            <a:picLocks noChangeAspect="1"/>
          </p:cNvPicPr>
          <p:nvPr/>
        </p:nvPicPr>
        <p:blipFill>
          <a:blip r:embed="rId3"/>
          <a:stretch>
            <a:fillRect/>
          </a:stretch>
        </p:blipFill>
        <p:spPr>
          <a:xfrm>
            <a:off x="11112500" y="7353300"/>
            <a:ext cx="3517900" cy="8763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148388" y="434578"/>
            <a:ext cx="2333506" cy="219075"/>
          </a:xfrm>
          <a:prstGeom prst="rect">
            <a:avLst/>
          </a:prstGeom>
          <a:noFill/>
          <a:ln/>
        </p:spPr>
        <p:txBody>
          <a:bodyPr wrap="none" lIns="0" tIns="0" rIns="0" bIns="0" rtlCol="0" anchor="t"/>
          <a:lstStyle/>
          <a:p>
            <a:pPr marL="0" indent="0" algn="ctr">
              <a:lnSpc>
                <a:spcPts val="1700"/>
              </a:lnSpc>
              <a:buNone/>
            </a:pPr>
            <a:r>
              <a:rPr lang="en-US" sz="1350" dirty="0">
                <a:solidFill>
                  <a:srgbClr val="C6BFEE"/>
                </a:solidFill>
                <a:latin typeface="Prompt Medium" pitchFamily="34" charset="0"/>
                <a:ea typeface="Prompt Medium" pitchFamily="34" charset="-122"/>
                <a:cs typeface="Prompt Medium" pitchFamily="34" charset="-120"/>
              </a:rPr>
              <a:t>Búsqueda Lineal en Acción</a:t>
            </a:r>
            <a:endParaRPr lang="en-US" sz="1350" dirty="0"/>
          </a:p>
        </p:txBody>
      </p:sp>
      <p:sp>
        <p:nvSpPr>
          <p:cNvPr id="3" name="Text 1"/>
          <p:cNvSpPr/>
          <p:nvPr/>
        </p:nvSpPr>
        <p:spPr>
          <a:xfrm>
            <a:off x="630912" y="811292"/>
            <a:ext cx="6194703" cy="350401"/>
          </a:xfrm>
          <a:prstGeom prst="rect">
            <a:avLst/>
          </a:prstGeom>
          <a:noFill/>
          <a:ln/>
        </p:spPr>
        <p:txBody>
          <a:bodyPr wrap="none" lIns="0" tIns="0" rIns="0" bIns="0" rtlCol="0" anchor="t"/>
          <a:lstStyle/>
          <a:p>
            <a:pPr marL="0" indent="0" algn="l">
              <a:lnSpc>
                <a:spcPts val="2750"/>
              </a:lnSpc>
              <a:buNone/>
            </a:pPr>
            <a:r>
              <a:rPr lang="en-US" sz="2200" dirty="0">
                <a:solidFill>
                  <a:srgbClr val="C6BFEE"/>
                </a:solidFill>
                <a:latin typeface="Prompt Medium" pitchFamily="34" charset="0"/>
                <a:ea typeface="Prompt Medium" pitchFamily="34" charset="-122"/>
                <a:cs typeface="Prompt Medium" pitchFamily="34" charset="-120"/>
              </a:rPr>
              <a:t>Búsqueda Lineal: Ejemplo Práctico en Python</a:t>
            </a:r>
            <a:endParaRPr lang="en-US" sz="2200" dirty="0"/>
          </a:p>
        </p:txBody>
      </p:sp>
      <p:sp>
        <p:nvSpPr>
          <p:cNvPr id="4" name="Text 2"/>
          <p:cNvSpPr/>
          <p:nvPr/>
        </p:nvSpPr>
        <p:spPr>
          <a:xfrm>
            <a:off x="630912" y="1398270"/>
            <a:ext cx="13368576" cy="252413"/>
          </a:xfrm>
          <a:prstGeom prst="rect">
            <a:avLst/>
          </a:prstGeom>
          <a:noFill/>
          <a:ln/>
        </p:spPr>
        <p:txBody>
          <a:bodyPr wrap="none" lIns="0" tIns="0" rIns="0" bIns="0" rtlCol="0" anchor="t"/>
          <a:lstStyle/>
          <a:p>
            <a:pPr marL="0" indent="0" algn="l">
              <a:lnSpc>
                <a:spcPts val="1950"/>
              </a:lnSpc>
              <a:buNone/>
            </a:pPr>
            <a:r>
              <a:rPr lang="en-US" sz="1200" dirty="0">
                <a:solidFill>
                  <a:srgbClr val="DAD8E9"/>
                </a:solidFill>
                <a:latin typeface="Mukta Light" pitchFamily="34" charset="0"/>
                <a:ea typeface="Mukta Light" pitchFamily="34" charset="-122"/>
                <a:cs typeface="Mukta Light" pitchFamily="34" charset="-120"/>
              </a:rPr>
              <a:t>Veamos cómo se implementaría una búsqueda lineal en Python y un ejemplo concreto de su uso:</a:t>
            </a:r>
            <a:endParaRPr lang="en-US" sz="1200" dirty="0"/>
          </a:p>
        </p:txBody>
      </p:sp>
      <p:sp>
        <p:nvSpPr>
          <p:cNvPr id="5" name="Shape 3"/>
          <p:cNvSpPr/>
          <p:nvPr/>
        </p:nvSpPr>
        <p:spPr>
          <a:xfrm>
            <a:off x="630912" y="1828086"/>
            <a:ext cx="13368576" cy="5537121"/>
          </a:xfrm>
          <a:prstGeom prst="roundRect">
            <a:avLst>
              <a:gd name="adj" fmla="val 1196"/>
            </a:avLst>
          </a:prstGeom>
          <a:solidFill>
            <a:srgbClr val="181930"/>
          </a:solidFill>
          <a:ln/>
        </p:spPr>
      </p:sp>
      <p:sp>
        <p:nvSpPr>
          <p:cNvPr id="8" name="Text 6"/>
          <p:cNvSpPr/>
          <p:nvPr/>
        </p:nvSpPr>
        <p:spPr>
          <a:xfrm>
            <a:off x="630912" y="7542609"/>
            <a:ext cx="13368576" cy="252413"/>
          </a:xfrm>
          <a:prstGeom prst="rect">
            <a:avLst/>
          </a:prstGeom>
          <a:noFill/>
          <a:ln/>
        </p:spPr>
        <p:txBody>
          <a:bodyPr wrap="none" lIns="0" tIns="0" rIns="0" bIns="0" rtlCol="0" anchor="t"/>
          <a:lstStyle/>
          <a:p>
            <a:pPr marL="0" indent="0" algn="l">
              <a:lnSpc>
                <a:spcPts val="1950"/>
              </a:lnSpc>
              <a:buNone/>
            </a:pPr>
            <a:r>
              <a:rPr lang="en-US" sz="1200" b="1" dirty="0">
                <a:solidFill>
                  <a:srgbClr val="DAD8E9"/>
                </a:solidFill>
                <a:latin typeface="Mukta Light" pitchFamily="34" charset="0"/>
                <a:ea typeface="Mukta Light" pitchFamily="34" charset="-122"/>
                <a:cs typeface="Mukta Light" pitchFamily="34" charset="-120"/>
              </a:rPr>
              <a:t>Salida del ejemplo:</a:t>
            </a:r>
            <a:r>
              <a:rPr lang="en-US" sz="1200" dirty="0">
                <a:solidFill>
                  <a:srgbClr val="DAD8E9"/>
                </a:solidFill>
                <a:latin typeface="Mukta Light" pitchFamily="34" charset="0"/>
                <a:ea typeface="Mukta Light" pitchFamily="34" charset="-122"/>
                <a:cs typeface="Mukta Light" pitchFamily="34" charset="-120"/>
              </a:rPr>
              <a:t> El valor 10 se encuentra en el índice 4.</a:t>
            </a:r>
            <a:endParaRPr lang="en-US" sz="1200" dirty="0"/>
          </a:p>
        </p:txBody>
      </p:sp>
      <p:pic>
        <p:nvPicPr>
          <p:cNvPr id="11" name="Imagen 10">
            <a:extLst>
              <a:ext uri="{FF2B5EF4-FFF2-40B4-BE49-F238E27FC236}">
                <a16:creationId xmlns:a16="http://schemas.microsoft.com/office/drawing/2014/main" id="{75D5C7CE-A7A7-4F6F-0949-71CC11C8F947}"/>
              </a:ext>
            </a:extLst>
          </p:cNvPr>
          <p:cNvPicPr>
            <a:picLocks noChangeAspect="1"/>
          </p:cNvPicPr>
          <p:nvPr/>
        </p:nvPicPr>
        <p:blipFill>
          <a:blip r:embed="rId3"/>
          <a:stretch>
            <a:fillRect/>
          </a:stretch>
        </p:blipFill>
        <p:spPr>
          <a:xfrm>
            <a:off x="3110346" y="1650683"/>
            <a:ext cx="7772400" cy="571090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321737" y="1831062"/>
            <a:ext cx="3986927" cy="305991"/>
          </a:xfrm>
          <a:prstGeom prst="rect">
            <a:avLst/>
          </a:prstGeom>
          <a:noFill/>
          <a:ln/>
        </p:spPr>
        <p:txBody>
          <a:bodyPr wrap="none" lIns="0" tIns="0" rIns="0" bIns="0" rtlCol="0" anchor="t"/>
          <a:lstStyle/>
          <a:p>
            <a:pPr marL="0" indent="0" algn="ctr">
              <a:lnSpc>
                <a:spcPts val="2400"/>
              </a:lnSpc>
              <a:buNone/>
            </a:pPr>
            <a:r>
              <a:rPr lang="en-US" sz="1900" dirty="0">
                <a:solidFill>
                  <a:srgbClr val="C6BFEE"/>
                </a:solidFill>
                <a:latin typeface="Prompt Medium" pitchFamily="34" charset="0"/>
                <a:ea typeface="Prompt Medium" pitchFamily="34" charset="-122"/>
                <a:cs typeface="Prompt Medium" pitchFamily="34" charset="-120"/>
              </a:rPr>
              <a:t>El Salto Cuantitativo en Eficiencia</a:t>
            </a:r>
            <a:endParaRPr lang="en-US" sz="1900" dirty="0"/>
          </a:p>
        </p:txBody>
      </p:sp>
      <p:sp>
        <p:nvSpPr>
          <p:cNvPr id="3" name="Text 1"/>
          <p:cNvSpPr/>
          <p:nvPr/>
        </p:nvSpPr>
        <p:spPr>
          <a:xfrm>
            <a:off x="881063" y="2357318"/>
            <a:ext cx="7798713" cy="489466"/>
          </a:xfrm>
          <a:prstGeom prst="rect">
            <a:avLst/>
          </a:prstGeom>
          <a:noFill/>
          <a:ln/>
        </p:spPr>
        <p:txBody>
          <a:bodyPr wrap="none" lIns="0" tIns="0" rIns="0" bIns="0" rtlCol="0" anchor="t"/>
          <a:lstStyle/>
          <a:p>
            <a:pPr marL="0" indent="0" algn="l">
              <a:lnSpc>
                <a:spcPts val="3850"/>
              </a:lnSpc>
              <a:buNone/>
            </a:pPr>
            <a:r>
              <a:rPr lang="en-US" sz="3050" dirty="0">
                <a:solidFill>
                  <a:srgbClr val="C6BFEE"/>
                </a:solidFill>
                <a:latin typeface="Prompt Medium" pitchFamily="34" charset="0"/>
                <a:ea typeface="Prompt Medium" pitchFamily="34" charset="-122"/>
                <a:cs typeface="Prompt Medium" pitchFamily="34" charset="-120"/>
              </a:rPr>
              <a:t>Búsqueda Binaria: El Enfoque Inteligente</a:t>
            </a:r>
            <a:endParaRPr lang="en-US" sz="3050" dirty="0"/>
          </a:p>
        </p:txBody>
      </p:sp>
      <p:sp>
        <p:nvSpPr>
          <p:cNvPr id="4" name="Text 2"/>
          <p:cNvSpPr/>
          <p:nvPr/>
        </p:nvSpPr>
        <p:spPr>
          <a:xfrm>
            <a:off x="881063" y="3177183"/>
            <a:ext cx="12868275"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La búsqueda binaria es un algoritmo significativamente más rápido que la búsqueda lineal, pero con una condición muy importante. Su estrategia es mucho más parecida a cómo buscarías una palabra en un diccionario bien ordenado.</a:t>
            </a:r>
            <a:endParaRPr lang="en-US" sz="1700" dirty="0"/>
          </a:p>
        </p:txBody>
      </p:sp>
      <p:sp>
        <p:nvSpPr>
          <p:cNvPr id="5" name="Text 3"/>
          <p:cNvSpPr/>
          <p:nvPr/>
        </p:nvSpPr>
        <p:spPr>
          <a:xfrm>
            <a:off x="881063" y="4129802"/>
            <a:ext cx="12868275" cy="704850"/>
          </a:xfrm>
          <a:prstGeom prst="rect">
            <a:avLst/>
          </a:prstGeom>
          <a:noFill/>
          <a:ln/>
        </p:spPr>
        <p:txBody>
          <a:bodyPr wrap="square" lIns="0" tIns="0" rIns="0" bIns="0" rtlCol="0" anchor="t"/>
          <a:lstStyle/>
          <a:p>
            <a:pPr marL="342900" indent="-342900" algn="l">
              <a:lnSpc>
                <a:spcPts val="2750"/>
              </a:lnSpc>
              <a:buSzPct val="100000"/>
              <a:buChar char="•"/>
            </a:pPr>
            <a:r>
              <a:rPr lang="en-US" sz="1700" b="1" dirty="0">
                <a:solidFill>
                  <a:srgbClr val="DAD8E9"/>
                </a:solidFill>
                <a:latin typeface="Mukta Light" pitchFamily="34" charset="0"/>
                <a:ea typeface="Mukta Light" pitchFamily="34" charset="-122"/>
                <a:cs typeface="Mukta Light" pitchFamily="34" charset="-120"/>
              </a:rPr>
              <a:t>Concepto Principal:</a:t>
            </a:r>
            <a:r>
              <a:rPr lang="en-US" sz="1700" dirty="0">
                <a:solidFill>
                  <a:srgbClr val="DAD8E9"/>
                </a:solidFill>
                <a:latin typeface="Mukta Light" pitchFamily="34" charset="0"/>
                <a:ea typeface="Mukta Light" pitchFamily="34" charset="-122"/>
                <a:cs typeface="Mukta Light" pitchFamily="34" charset="-120"/>
              </a:rPr>
              <a:t> En cada paso, el algoritmo </a:t>
            </a:r>
            <a:r>
              <a:rPr lang="en-US" sz="1700" b="1" dirty="0">
                <a:solidFill>
                  <a:srgbClr val="DAD8E9"/>
                </a:solidFill>
                <a:latin typeface="Mukta Light" pitchFamily="34" charset="0"/>
                <a:ea typeface="Mukta Light" pitchFamily="34" charset="-122"/>
                <a:cs typeface="Mukta Light" pitchFamily="34" charset="-120"/>
              </a:rPr>
              <a:t>divide la lista a la mitad</a:t>
            </a:r>
            <a:r>
              <a:rPr lang="en-US" sz="1700" dirty="0">
                <a:solidFill>
                  <a:srgbClr val="DAD8E9"/>
                </a:solidFill>
                <a:latin typeface="Mukta Light" pitchFamily="34" charset="0"/>
                <a:ea typeface="Mukta Light" pitchFamily="34" charset="-122"/>
                <a:cs typeface="Mukta Light" pitchFamily="34" charset="-120"/>
              </a:rPr>
              <a:t> y determina en qué mitad podría encontrarse el valor buscado, descartando la otra mitad. Este proceso se repite hasta encontrar el valor o agotar las posibilidades.</a:t>
            </a:r>
            <a:endParaRPr lang="en-US" sz="1700" dirty="0"/>
          </a:p>
        </p:txBody>
      </p:sp>
      <p:sp>
        <p:nvSpPr>
          <p:cNvPr id="6" name="Text 4"/>
          <p:cNvSpPr/>
          <p:nvPr/>
        </p:nvSpPr>
        <p:spPr>
          <a:xfrm>
            <a:off x="881063" y="4911685"/>
            <a:ext cx="12868275" cy="704850"/>
          </a:xfrm>
          <a:prstGeom prst="rect">
            <a:avLst/>
          </a:prstGeom>
          <a:noFill/>
          <a:ln/>
        </p:spPr>
        <p:txBody>
          <a:bodyPr wrap="square" lIns="0" tIns="0" rIns="0" bIns="0" rtlCol="0" anchor="t"/>
          <a:lstStyle/>
          <a:p>
            <a:pPr marL="342900" indent="-342900" algn="l">
              <a:lnSpc>
                <a:spcPts val="2750"/>
              </a:lnSpc>
              <a:buSzPct val="100000"/>
              <a:buChar char="•"/>
            </a:pPr>
            <a:r>
              <a:rPr lang="en-US" sz="1700" b="1" dirty="0">
                <a:solidFill>
                  <a:srgbClr val="DAD8E9"/>
                </a:solidFill>
                <a:latin typeface="Mukta Light" pitchFamily="34" charset="0"/>
                <a:ea typeface="Mukta Light" pitchFamily="34" charset="-122"/>
                <a:cs typeface="Mukta Light" pitchFamily="34" charset="-120"/>
              </a:rPr>
              <a:t>Requisito Clave:</a:t>
            </a:r>
            <a:r>
              <a:rPr lang="en-US" sz="1700" dirty="0">
                <a:solidFill>
                  <a:srgbClr val="DAD8E9"/>
                </a:solidFill>
                <a:latin typeface="Mukta Light" pitchFamily="34" charset="0"/>
                <a:ea typeface="Mukta Light" pitchFamily="34" charset="-122"/>
                <a:cs typeface="Mukta Light" pitchFamily="34" charset="-120"/>
              </a:rPr>
              <a:t> La lista </a:t>
            </a:r>
            <a:r>
              <a:rPr lang="en-US" sz="1700" b="1" dirty="0">
                <a:solidFill>
                  <a:srgbClr val="DAD8E9"/>
                </a:solidFill>
                <a:latin typeface="Mukta Light" pitchFamily="34" charset="0"/>
                <a:ea typeface="Mukta Light" pitchFamily="34" charset="-122"/>
                <a:cs typeface="Mukta Light" pitchFamily="34" charset="-120"/>
              </a:rPr>
              <a:t>DEBE estar ordenada</a:t>
            </a:r>
            <a:r>
              <a:rPr lang="en-US" sz="1700" dirty="0">
                <a:solidFill>
                  <a:srgbClr val="DAD8E9"/>
                </a:solidFill>
                <a:latin typeface="Mukta Light" pitchFamily="34" charset="0"/>
                <a:ea typeface="Mukta Light" pitchFamily="34" charset="-122"/>
                <a:cs typeface="Mukta Light" pitchFamily="34" charset="-120"/>
              </a:rPr>
              <a:t>. Si la lista no está ordenada, este algoritmo no funcionará correctamente. Este pre-requisito es fundamental para su eficiencia.</a:t>
            </a:r>
            <a:endParaRPr lang="en-US" sz="1700" dirty="0"/>
          </a:p>
        </p:txBody>
      </p:sp>
      <p:sp>
        <p:nvSpPr>
          <p:cNvPr id="7" name="Text 5"/>
          <p:cNvSpPr/>
          <p:nvPr/>
        </p:nvSpPr>
        <p:spPr>
          <a:xfrm>
            <a:off x="881063" y="5693569"/>
            <a:ext cx="12868275" cy="704850"/>
          </a:xfrm>
          <a:prstGeom prst="rect">
            <a:avLst/>
          </a:prstGeom>
          <a:noFill/>
          <a:ln/>
        </p:spPr>
        <p:txBody>
          <a:bodyPr wrap="square" lIns="0" tIns="0" rIns="0" bIns="0" rtlCol="0" anchor="t"/>
          <a:lstStyle/>
          <a:p>
            <a:pPr marL="342900" indent="-342900" algn="l">
              <a:lnSpc>
                <a:spcPts val="2750"/>
              </a:lnSpc>
              <a:buSzPct val="100000"/>
              <a:buChar char="•"/>
            </a:pPr>
            <a:r>
              <a:rPr lang="en-US" sz="1700" b="1" dirty="0">
                <a:solidFill>
                  <a:srgbClr val="DAD8E9"/>
                </a:solidFill>
                <a:latin typeface="Mukta Light" pitchFamily="34" charset="0"/>
                <a:ea typeface="Mukta Light" pitchFamily="34" charset="-122"/>
                <a:cs typeface="Mukta Light" pitchFamily="34" charset="-120"/>
              </a:rPr>
              <a:t>Complejidad:</a:t>
            </a:r>
            <a:r>
              <a:rPr lang="en-US" sz="1700" dirty="0">
                <a:solidFill>
                  <a:srgbClr val="DAD8E9"/>
                </a:solidFill>
                <a:latin typeface="Mukta Light" pitchFamily="34" charset="0"/>
                <a:ea typeface="Mukta Light" pitchFamily="34" charset="-122"/>
                <a:cs typeface="Mukta Light" pitchFamily="34" charset="-120"/>
              </a:rPr>
              <a:t> Su eficiencia se mide como O(log n). Esto significa que, incluso para listas extremadamente grandes, el número de pasos necesarios es drásticamente menor que en la búsqueda lineal. Es </a:t>
            </a:r>
            <a:r>
              <a:rPr lang="en-US" sz="1700" b="1" dirty="0">
                <a:solidFill>
                  <a:srgbClr val="DAD8E9"/>
                </a:solidFill>
                <a:latin typeface="Mukta Light" pitchFamily="34" charset="0"/>
                <a:ea typeface="Mukta Light" pitchFamily="34" charset="-122"/>
                <a:cs typeface="Mukta Light" pitchFamily="34" charset="-120"/>
              </a:rPr>
              <a:t>altamente eficiente</a:t>
            </a:r>
            <a:r>
              <a:rPr lang="en-US" sz="1700" dirty="0">
                <a:solidFill>
                  <a:srgbClr val="DAD8E9"/>
                </a:solidFill>
                <a:latin typeface="Mukta Light" pitchFamily="34" charset="0"/>
                <a:ea typeface="Mukta Light" pitchFamily="34" charset="-122"/>
                <a:cs typeface="Mukta Light" pitchFamily="34" charset="-120"/>
              </a:rPr>
              <a:t>.</a:t>
            </a:r>
            <a:endParaRPr lang="en-US" sz="1700" dirty="0"/>
          </a:p>
        </p:txBody>
      </p:sp>
      <p:pic>
        <p:nvPicPr>
          <p:cNvPr id="8" name="Imagen 7">
            <a:extLst>
              <a:ext uri="{FF2B5EF4-FFF2-40B4-BE49-F238E27FC236}">
                <a16:creationId xmlns:a16="http://schemas.microsoft.com/office/drawing/2014/main" id="{E9340B21-60C9-EC9D-1C65-2B1E5C7F9EB9}"/>
              </a:ext>
            </a:extLst>
          </p:cNvPr>
          <p:cNvPicPr>
            <a:picLocks noChangeAspect="1"/>
          </p:cNvPicPr>
          <p:nvPr/>
        </p:nvPicPr>
        <p:blipFill>
          <a:blip r:embed="rId3"/>
          <a:stretch>
            <a:fillRect/>
          </a:stretch>
        </p:blipFill>
        <p:spPr>
          <a:xfrm>
            <a:off x="11112500" y="7342206"/>
            <a:ext cx="3517900" cy="8763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821918" y="2789158"/>
            <a:ext cx="2986564" cy="305991"/>
          </a:xfrm>
          <a:prstGeom prst="rect">
            <a:avLst/>
          </a:prstGeom>
          <a:noFill/>
          <a:ln/>
        </p:spPr>
        <p:txBody>
          <a:bodyPr wrap="none" lIns="0" tIns="0" rIns="0" bIns="0" rtlCol="0" anchor="t"/>
          <a:lstStyle/>
          <a:p>
            <a:pPr marL="0" indent="0" algn="ctr">
              <a:lnSpc>
                <a:spcPts val="2400"/>
              </a:lnSpc>
              <a:buNone/>
            </a:pPr>
            <a:r>
              <a:rPr lang="en-US" sz="1900" dirty="0">
                <a:solidFill>
                  <a:srgbClr val="C6BFEE"/>
                </a:solidFill>
                <a:latin typeface="Prompt Medium" pitchFamily="34" charset="0"/>
                <a:ea typeface="Prompt Medium" pitchFamily="34" charset="-122"/>
                <a:cs typeface="Prompt Medium" pitchFamily="34" charset="-120"/>
              </a:rPr>
              <a:t>Visualizando la Eficiencia</a:t>
            </a:r>
            <a:endParaRPr lang="en-US" sz="1900" dirty="0"/>
          </a:p>
        </p:txBody>
      </p:sp>
      <p:sp>
        <p:nvSpPr>
          <p:cNvPr id="3" name="Text 1"/>
          <p:cNvSpPr/>
          <p:nvPr/>
        </p:nvSpPr>
        <p:spPr>
          <a:xfrm>
            <a:off x="881063" y="3315414"/>
            <a:ext cx="7234476" cy="489466"/>
          </a:xfrm>
          <a:prstGeom prst="rect">
            <a:avLst/>
          </a:prstGeom>
          <a:noFill/>
          <a:ln/>
        </p:spPr>
        <p:txBody>
          <a:bodyPr wrap="none" lIns="0" tIns="0" rIns="0" bIns="0" rtlCol="0" anchor="t"/>
          <a:lstStyle/>
          <a:p>
            <a:pPr marL="0" indent="0" algn="l">
              <a:lnSpc>
                <a:spcPts val="3850"/>
              </a:lnSpc>
              <a:buNone/>
            </a:pPr>
            <a:r>
              <a:rPr lang="en-US" sz="3050" dirty="0">
                <a:solidFill>
                  <a:srgbClr val="C6BFEE"/>
                </a:solidFill>
                <a:latin typeface="Prompt Medium" pitchFamily="34" charset="0"/>
                <a:ea typeface="Prompt Medium" pitchFamily="34" charset="-122"/>
                <a:cs typeface="Prompt Medium" pitchFamily="34" charset="-120"/>
              </a:rPr>
              <a:t>¿Cómo funciona la Búsqueda Binaria?</a:t>
            </a:r>
            <a:endParaRPr lang="en-US" sz="3050" dirty="0"/>
          </a:p>
        </p:txBody>
      </p:sp>
      <p:sp>
        <p:nvSpPr>
          <p:cNvPr id="4" name="Text 2"/>
          <p:cNvSpPr/>
          <p:nvPr/>
        </p:nvSpPr>
        <p:spPr>
          <a:xfrm>
            <a:off x="881063" y="4135279"/>
            <a:ext cx="12868275"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Para entender cómo la búsqueda binaria "descarta" la mitad de la lista en cada paso, observemos este ejemplo con la lista ordenada </a:t>
            </a:r>
            <a:r>
              <a:rPr lang="en-US" sz="1700" b="1" dirty="0">
                <a:solidFill>
                  <a:srgbClr val="DAD8E9"/>
                </a:solidFill>
                <a:latin typeface="Mukta Light" pitchFamily="34" charset="0"/>
                <a:ea typeface="Mukta Light" pitchFamily="34" charset="-122"/>
                <a:cs typeface="Mukta Light" pitchFamily="34" charset="-120"/>
              </a:rPr>
              <a:t>[5, 8, 12, 16, 20, 25, 30]</a:t>
            </a:r>
            <a:r>
              <a:rPr lang="en-US" sz="1700" dirty="0">
                <a:solidFill>
                  <a:srgbClr val="DAD8E9"/>
                </a:solidFill>
                <a:latin typeface="Mukta Light" pitchFamily="34" charset="0"/>
                <a:ea typeface="Mukta Light" pitchFamily="34" charset="-122"/>
                <a:cs typeface="Mukta Light" pitchFamily="34" charset="-120"/>
              </a:rPr>
              <a:t> buscando el número </a:t>
            </a:r>
            <a:r>
              <a:rPr lang="en-US" sz="1700" b="1" dirty="0">
                <a:solidFill>
                  <a:srgbClr val="DAD8E9"/>
                </a:solidFill>
                <a:latin typeface="Mukta Light" pitchFamily="34" charset="0"/>
                <a:ea typeface="Mukta Light" pitchFamily="34" charset="-122"/>
                <a:cs typeface="Mukta Light" pitchFamily="34" charset="-120"/>
              </a:rPr>
              <a:t>20</a:t>
            </a:r>
            <a:r>
              <a:rPr lang="en-US" sz="1700" dirty="0">
                <a:solidFill>
                  <a:srgbClr val="DAD8E9"/>
                </a:solidFill>
                <a:latin typeface="Mukta Light" pitchFamily="34" charset="0"/>
                <a:ea typeface="Mukta Light" pitchFamily="34" charset="-122"/>
                <a:cs typeface="Mukta Light" pitchFamily="34" charset="-120"/>
              </a:rPr>
              <a:t>:</a:t>
            </a:r>
            <a:endParaRPr lang="en-US" sz="1700" dirty="0"/>
          </a:p>
        </p:txBody>
      </p:sp>
      <p:sp>
        <p:nvSpPr>
          <p:cNvPr id="5" name="Text 3"/>
          <p:cNvSpPr/>
          <p:nvPr/>
        </p:nvSpPr>
        <p:spPr>
          <a:xfrm>
            <a:off x="881063" y="5087898"/>
            <a:ext cx="12868275" cy="352425"/>
          </a:xfrm>
          <a:prstGeom prst="rect">
            <a:avLst/>
          </a:prstGeom>
          <a:noFill/>
          <a:ln/>
        </p:spPr>
        <p:txBody>
          <a:bodyPr wrap="none" lIns="0" tIns="0" rIns="0" bIns="0" rtlCol="0" anchor="t"/>
          <a:lstStyle/>
          <a:p>
            <a:pPr marL="0" indent="0" algn="l">
              <a:lnSpc>
                <a:spcPts val="2750"/>
              </a:lnSpc>
              <a:buNone/>
            </a:pPr>
            <a:endParaRPr lang="en-US" sz="1700" dirty="0"/>
          </a:p>
        </p:txBody>
      </p:sp>
      <p:pic>
        <p:nvPicPr>
          <p:cNvPr id="6" name="Imagen 5">
            <a:extLst>
              <a:ext uri="{FF2B5EF4-FFF2-40B4-BE49-F238E27FC236}">
                <a16:creationId xmlns:a16="http://schemas.microsoft.com/office/drawing/2014/main" id="{55887FDC-9D4A-97EC-A30D-8997A2539675}"/>
              </a:ext>
            </a:extLst>
          </p:cNvPr>
          <p:cNvPicPr>
            <a:picLocks noChangeAspect="1"/>
          </p:cNvPicPr>
          <p:nvPr/>
        </p:nvPicPr>
        <p:blipFill>
          <a:blip r:embed="rId3"/>
          <a:stretch>
            <a:fillRect/>
          </a:stretch>
        </p:blipFill>
        <p:spPr>
          <a:xfrm>
            <a:off x="11112500" y="7353300"/>
            <a:ext cx="3517900" cy="8763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158032" y="340043"/>
            <a:ext cx="2314337" cy="171688"/>
          </a:xfrm>
          <a:prstGeom prst="rect">
            <a:avLst/>
          </a:prstGeom>
          <a:noFill/>
          <a:ln/>
        </p:spPr>
        <p:txBody>
          <a:bodyPr wrap="none" lIns="0" tIns="0" rIns="0" bIns="0" rtlCol="0" anchor="t"/>
          <a:lstStyle/>
          <a:p>
            <a:pPr marL="0" indent="0" algn="ctr">
              <a:lnSpc>
                <a:spcPts val="1350"/>
              </a:lnSpc>
              <a:buNone/>
            </a:pPr>
            <a:r>
              <a:rPr lang="en-US" sz="1050" dirty="0">
                <a:solidFill>
                  <a:srgbClr val="C6BFEE"/>
                </a:solidFill>
                <a:latin typeface="Prompt Medium" pitchFamily="34" charset="0"/>
                <a:ea typeface="Prompt Medium" pitchFamily="34" charset="-122"/>
                <a:cs typeface="Prompt Medium" pitchFamily="34" charset="-120"/>
              </a:rPr>
              <a:t>Búsqueda Binaria: Implementación</a:t>
            </a:r>
            <a:endParaRPr lang="en-US" sz="1050" dirty="0"/>
          </a:p>
        </p:txBody>
      </p:sp>
      <p:sp>
        <p:nvSpPr>
          <p:cNvPr id="3" name="Text 1"/>
          <p:cNvSpPr/>
          <p:nvPr/>
        </p:nvSpPr>
        <p:spPr>
          <a:xfrm>
            <a:off x="494705" y="635318"/>
            <a:ext cx="3954899" cy="274796"/>
          </a:xfrm>
          <a:prstGeom prst="rect">
            <a:avLst/>
          </a:prstGeom>
          <a:noFill/>
          <a:ln/>
        </p:spPr>
        <p:txBody>
          <a:bodyPr wrap="none" lIns="0" tIns="0" rIns="0" bIns="0" rtlCol="0" anchor="t"/>
          <a:lstStyle/>
          <a:p>
            <a:pPr marL="0" indent="0" algn="l">
              <a:lnSpc>
                <a:spcPts val="2150"/>
              </a:lnSpc>
              <a:buNone/>
            </a:pPr>
            <a:r>
              <a:rPr lang="en-US" sz="1700" dirty="0">
                <a:solidFill>
                  <a:srgbClr val="C6BFEE"/>
                </a:solidFill>
                <a:latin typeface="Prompt Medium" pitchFamily="34" charset="0"/>
                <a:ea typeface="Prompt Medium" pitchFamily="34" charset="-122"/>
                <a:cs typeface="Prompt Medium" pitchFamily="34" charset="-120"/>
              </a:rPr>
              <a:t>Búsqueda Binaria: Código en Python</a:t>
            </a:r>
            <a:endParaRPr lang="en-US" sz="1700" dirty="0"/>
          </a:p>
        </p:txBody>
      </p:sp>
      <p:sp>
        <p:nvSpPr>
          <p:cNvPr id="4" name="Text 2"/>
          <p:cNvSpPr/>
          <p:nvPr/>
        </p:nvSpPr>
        <p:spPr>
          <a:xfrm>
            <a:off x="494705" y="1095613"/>
            <a:ext cx="3280659" cy="197882"/>
          </a:xfrm>
          <a:prstGeom prst="rect">
            <a:avLst/>
          </a:prstGeom>
          <a:noFill/>
          <a:ln/>
        </p:spPr>
        <p:txBody>
          <a:bodyPr wrap="none" lIns="0" tIns="0" rIns="0" bIns="0" rtlCol="0" anchor="t"/>
          <a:lstStyle/>
          <a:p>
            <a:pPr marL="0" indent="0" algn="l">
              <a:lnSpc>
                <a:spcPts val="1550"/>
              </a:lnSpc>
              <a:buNone/>
            </a:pPr>
            <a:r>
              <a:rPr lang="en-US" sz="950" dirty="0">
                <a:solidFill>
                  <a:srgbClr val="DAD8E9"/>
                </a:solidFill>
                <a:latin typeface="Mukta Light" pitchFamily="34" charset="0"/>
                <a:ea typeface="Mukta Light" pitchFamily="34" charset="-122"/>
                <a:cs typeface="Mukta Light" pitchFamily="34" charset="-120"/>
              </a:rPr>
              <a:t>Aquí tienes la implementación de la búsqueda binaria en Python, ideal para listas ya ordenadas:</a:t>
            </a:r>
            <a:endParaRPr lang="en-US" sz="950" dirty="0"/>
          </a:p>
        </p:txBody>
      </p:sp>
      <p:sp>
        <p:nvSpPr>
          <p:cNvPr id="8" name="Text 6"/>
          <p:cNvSpPr/>
          <p:nvPr/>
        </p:nvSpPr>
        <p:spPr>
          <a:xfrm>
            <a:off x="494705" y="7693581"/>
            <a:ext cx="13640991" cy="197882"/>
          </a:xfrm>
          <a:prstGeom prst="rect">
            <a:avLst/>
          </a:prstGeom>
          <a:noFill/>
          <a:ln/>
        </p:spPr>
        <p:txBody>
          <a:bodyPr wrap="none" lIns="0" tIns="0" rIns="0" bIns="0" rtlCol="0" anchor="t"/>
          <a:lstStyle/>
          <a:p>
            <a:pPr marL="0" indent="0" algn="l">
              <a:lnSpc>
                <a:spcPts val="1550"/>
              </a:lnSpc>
              <a:buNone/>
            </a:pPr>
            <a:r>
              <a:rPr lang="en-US" sz="950" b="1" dirty="0">
                <a:solidFill>
                  <a:srgbClr val="DAD8E9"/>
                </a:solidFill>
                <a:latin typeface="Mukta Light" pitchFamily="34" charset="0"/>
                <a:ea typeface="Mukta Light" pitchFamily="34" charset="-122"/>
                <a:cs typeface="Mukta Light" pitchFamily="34" charset="-120"/>
              </a:rPr>
              <a:t>Salida del ejemplo:</a:t>
            </a:r>
            <a:r>
              <a:rPr lang="en-US" sz="950" dirty="0">
                <a:solidFill>
                  <a:srgbClr val="DAD8E9"/>
                </a:solidFill>
                <a:latin typeface="Mukta Light" pitchFamily="34" charset="0"/>
                <a:ea typeface="Mukta Light" pitchFamily="34" charset="-122"/>
                <a:cs typeface="Mukta Light" pitchFamily="34" charset="-120"/>
              </a:rPr>
              <a:t> El valor 20 se encuentra en el índice 4.</a:t>
            </a:r>
            <a:endParaRPr lang="en-US" sz="950" dirty="0"/>
          </a:p>
        </p:txBody>
      </p:sp>
      <p:pic>
        <p:nvPicPr>
          <p:cNvPr id="9" name="Imagen 8">
            <a:extLst>
              <a:ext uri="{FF2B5EF4-FFF2-40B4-BE49-F238E27FC236}">
                <a16:creationId xmlns:a16="http://schemas.microsoft.com/office/drawing/2014/main" id="{ED8DC004-B237-44B5-F9F3-22E25BA2D608}"/>
              </a:ext>
            </a:extLst>
          </p:cNvPr>
          <p:cNvPicPr>
            <a:picLocks noChangeAspect="1"/>
          </p:cNvPicPr>
          <p:nvPr/>
        </p:nvPicPr>
        <p:blipFill>
          <a:blip r:embed="rId3"/>
          <a:stretch>
            <a:fillRect/>
          </a:stretch>
        </p:blipFill>
        <p:spPr>
          <a:xfrm>
            <a:off x="5673435" y="141494"/>
            <a:ext cx="8866909" cy="796351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27896" y="672941"/>
            <a:ext cx="2574488" cy="305991"/>
          </a:xfrm>
          <a:prstGeom prst="rect">
            <a:avLst/>
          </a:prstGeom>
          <a:noFill/>
          <a:ln/>
        </p:spPr>
        <p:txBody>
          <a:bodyPr wrap="none" lIns="0" tIns="0" rIns="0" bIns="0" rtlCol="0" anchor="t"/>
          <a:lstStyle/>
          <a:p>
            <a:pPr marL="0" indent="0" algn="ctr">
              <a:lnSpc>
                <a:spcPts val="2400"/>
              </a:lnSpc>
              <a:buNone/>
            </a:pPr>
            <a:r>
              <a:rPr lang="en-US" sz="1900" dirty="0">
                <a:solidFill>
                  <a:srgbClr val="C6BFEE"/>
                </a:solidFill>
                <a:latin typeface="Prompt Medium" pitchFamily="34" charset="0"/>
                <a:ea typeface="Prompt Medium" pitchFamily="34" charset="-122"/>
                <a:cs typeface="Prompt Medium" pitchFamily="34" charset="-120"/>
              </a:rPr>
              <a:t>Decidiendo Cuál Usar</a:t>
            </a:r>
            <a:endParaRPr lang="en-US" sz="1900" dirty="0"/>
          </a:p>
        </p:txBody>
      </p:sp>
      <p:sp>
        <p:nvSpPr>
          <p:cNvPr id="3" name="Text 1"/>
          <p:cNvSpPr/>
          <p:nvPr/>
        </p:nvSpPr>
        <p:spPr>
          <a:xfrm>
            <a:off x="881063" y="1199198"/>
            <a:ext cx="5912168" cy="489466"/>
          </a:xfrm>
          <a:prstGeom prst="rect">
            <a:avLst/>
          </a:prstGeom>
          <a:noFill/>
          <a:ln/>
        </p:spPr>
        <p:txBody>
          <a:bodyPr wrap="none" lIns="0" tIns="0" rIns="0" bIns="0" rtlCol="0" anchor="t"/>
          <a:lstStyle/>
          <a:p>
            <a:pPr marL="0" indent="0" algn="l">
              <a:lnSpc>
                <a:spcPts val="3850"/>
              </a:lnSpc>
              <a:buNone/>
            </a:pPr>
            <a:r>
              <a:rPr lang="en-US" sz="3050" dirty="0">
                <a:solidFill>
                  <a:srgbClr val="C6BFEE"/>
                </a:solidFill>
                <a:latin typeface="Prompt Medium" pitchFamily="34" charset="0"/>
                <a:ea typeface="Prompt Medium" pitchFamily="34" charset="-122"/>
                <a:cs typeface="Prompt Medium" pitchFamily="34" charset="-120"/>
              </a:rPr>
              <a:t>Comparación: Lineal vs. Binaria</a:t>
            </a:r>
            <a:endParaRPr lang="en-US" sz="3050" dirty="0"/>
          </a:p>
        </p:txBody>
      </p:sp>
      <p:sp>
        <p:nvSpPr>
          <p:cNvPr id="4" name="Text 2"/>
          <p:cNvSpPr/>
          <p:nvPr/>
        </p:nvSpPr>
        <p:spPr>
          <a:xfrm>
            <a:off x="881063" y="2019062"/>
            <a:ext cx="12868275"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Entender las diferencias clave entre ambos algoritmos es crucial para elegir el más adecuado según el contexto y las características de tus datos.</a:t>
            </a:r>
            <a:endParaRPr lang="en-US" sz="1700" dirty="0"/>
          </a:p>
        </p:txBody>
      </p:sp>
      <p:sp>
        <p:nvSpPr>
          <p:cNvPr id="5" name="Shape 3"/>
          <p:cNvSpPr/>
          <p:nvPr/>
        </p:nvSpPr>
        <p:spPr>
          <a:xfrm>
            <a:off x="881063" y="2971681"/>
            <a:ext cx="12868275" cy="4584859"/>
          </a:xfrm>
          <a:prstGeom prst="roundRect">
            <a:avLst>
              <a:gd name="adj" fmla="val 2018"/>
            </a:avLst>
          </a:prstGeom>
          <a:noFill/>
          <a:ln w="7620">
            <a:solidFill>
              <a:srgbClr val="FFFFFF">
                <a:alpha val="24000"/>
              </a:srgbClr>
            </a:solidFill>
            <a:prstDash val="solid"/>
          </a:ln>
        </p:spPr>
      </p:sp>
      <p:sp>
        <p:nvSpPr>
          <p:cNvPr id="6" name="Shape 4"/>
          <p:cNvSpPr/>
          <p:nvPr/>
        </p:nvSpPr>
        <p:spPr>
          <a:xfrm>
            <a:off x="888683" y="2979301"/>
            <a:ext cx="12853035" cy="631984"/>
          </a:xfrm>
          <a:prstGeom prst="rect">
            <a:avLst/>
          </a:prstGeom>
          <a:solidFill>
            <a:srgbClr val="FFFFFF">
              <a:alpha val="4000"/>
            </a:srgbClr>
          </a:solidFill>
          <a:ln/>
        </p:spPr>
      </p:sp>
      <p:sp>
        <p:nvSpPr>
          <p:cNvPr id="7" name="Text 5"/>
          <p:cNvSpPr/>
          <p:nvPr/>
        </p:nvSpPr>
        <p:spPr>
          <a:xfrm>
            <a:off x="1109067" y="3119080"/>
            <a:ext cx="3411498" cy="352425"/>
          </a:xfrm>
          <a:prstGeom prst="rect">
            <a:avLst/>
          </a:prstGeom>
          <a:noFill/>
          <a:ln/>
        </p:spPr>
        <p:txBody>
          <a:bodyPr wrap="none" lIns="0" tIns="0" rIns="0" bIns="0" rtlCol="0" anchor="t"/>
          <a:lstStyle/>
          <a:p>
            <a:pPr marL="0" indent="0" algn="l">
              <a:lnSpc>
                <a:spcPts val="2750"/>
              </a:lnSpc>
              <a:buNone/>
            </a:pPr>
            <a:r>
              <a:rPr lang="en-US" sz="1700" b="1" dirty="0">
                <a:solidFill>
                  <a:srgbClr val="DAD8E9"/>
                </a:solidFill>
                <a:latin typeface="Mukta Light" pitchFamily="34" charset="0"/>
                <a:ea typeface="Mukta Light" pitchFamily="34" charset="-122"/>
                <a:cs typeface="Mukta Light" pitchFamily="34" charset="-120"/>
              </a:rPr>
              <a:t>Criterio</a:t>
            </a:r>
            <a:endParaRPr lang="en-US" sz="1700" dirty="0"/>
          </a:p>
        </p:txBody>
      </p:sp>
      <p:sp>
        <p:nvSpPr>
          <p:cNvPr id="8" name="Text 6"/>
          <p:cNvSpPr/>
          <p:nvPr/>
        </p:nvSpPr>
        <p:spPr>
          <a:xfrm>
            <a:off x="4968716" y="3119080"/>
            <a:ext cx="4050387" cy="352425"/>
          </a:xfrm>
          <a:prstGeom prst="rect">
            <a:avLst/>
          </a:prstGeom>
          <a:noFill/>
          <a:ln/>
        </p:spPr>
        <p:txBody>
          <a:bodyPr wrap="none" lIns="0" tIns="0" rIns="0" bIns="0" rtlCol="0" anchor="t"/>
          <a:lstStyle/>
          <a:p>
            <a:pPr marL="0" indent="0" algn="l">
              <a:lnSpc>
                <a:spcPts val="2750"/>
              </a:lnSpc>
              <a:buNone/>
            </a:pPr>
            <a:r>
              <a:rPr lang="en-US" sz="1700" b="1" dirty="0">
                <a:solidFill>
                  <a:srgbClr val="DAD8E9"/>
                </a:solidFill>
                <a:latin typeface="Mukta Light" pitchFamily="34" charset="0"/>
                <a:ea typeface="Mukta Light" pitchFamily="34" charset="-122"/>
                <a:cs typeface="Mukta Light" pitchFamily="34" charset="-120"/>
              </a:rPr>
              <a:t>Búsqueda Lineal</a:t>
            </a:r>
            <a:endParaRPr lang="en-US" sz="1700" dirty="0"/>
          </a:p>
        </p:txBody>
      </p:sp>
      <p:sp>
        <p:nvSpPr>
          <p:cNvPr id="9" name="Text 7"/>
          <p:cNvSpPr/>
          <p:nvPr/>
        </p:nvSpPr>
        <p:spPr>
          <a:xfrm>
            <a:off x="9467255" y="3119080"/>
            <a:ext cx="4054197" cy="352425"/>
          </a:xfrm>
          <a:prstGeom prst="rect">
            <a:avLst/>
          </a:prstGeom>
          <a:noFill/>
          <a:ln/>
        </p:spPr>
        <p:txBody>
          <a:bodyPr wrap="none" lIns="0" tIns="0" rIns="0" bIns="0" rtlCol="0" anchor="t"/>
          <a:lstStyle/>
          <a:p>
            <a:pPr marL="0" indent="0" algn="l">
              <a:lnSpc>
                <a:spcPts val="2750"/>
              </a:lnSpc>
              <a:buNone/>
            </a:pPr>
            <a:r>
              <a:rPr lang="en-US" sz="1700" b="1" dirty="0">
                <a:solidFill>
                  <a:srgbClr val="DAD8E9"/>
                </a:solidFill>
                <a:latin typeface="Mukta Light" pitchFamily="34" charset="0"/>
                <a:ea typeface="Mukta Light" pitchFamily="34" charset="-122"/>
                <a:cs typeface="Mukta Light" pitchFamily="34" charset="-120"/>
              </a:rPr>
              <a:t>Búsqueda Binaria</a:t>
            </a:r>
            <a:endParaRPr lang="en-US" sz="1700" dirty="0"/>
          </a:p>
        </p:txBody>
      </p:sp>
      <p:sp>
        <p:nvSpPr>
          <p:cNvPr id="10" name="Shape 8"/>
          <p:cNvSpPr/>
          <p:nvPr/>
        </p:nvSpPr>
        <p:spPr>
          <a:xfrm>
            <a:off x="888683" y="3611285"/>
            <a:ext cx="12853035" cy="984409"/>
          </a:xfrm>
          <a:prstGeom prst="rect">
            <a:avLst/>
          </a:prstGeom>
          <a:solidFill>
            <a:srgbClr val="000000">
              <a:alpha val="4000"/>
            </a:srgbClr>
          </a:solidFill>
          <a:ln/>
        </p:spPr>
      </p:sp>
      <p:sp>
        <p:nvSpPr>
          <p:cNvPr id="11" name="Text 9"/>
          <p:cNvSpPr/>
          <p:nvPr/>
        </p:nvSpPr>
        <p:spPr>
          <a:xfrm>
            <a:off x="1109067" y="3751064"/>
            <a:ext cx="3411498" cy="352425"/>
          </a:xfrm>
          <a:prstGeom prst="rect">
            <a:avLst/>
          </a:prstGeom>
          <a:noFill/>
          <a:ln/>
        </p:spPr>
        <p:txBody>
          <a:bodyPr wrap="none" lIns="0" tIns="0" rIns="0" bIns="0" rtlCol="0" anchor="t"/>
          <a:lstStyle/>
          <a:p>
            <a:pPr marL="0" indent="0" algn="l">
              <a:lnSpc>
                <a:spcPts val="2750"/>
              </a:lnSpc>
              <a:buNone/>
            </a:pPr>
            <a:r>
              <a:rPr lang="en-US" sz="1700" b="1" dirty="0">
                <a:solidFill>
                  <a:srgbClr val="DAD8E9"/>
                </a:solidFill>
                <a:latin typeface="Mukta Light" pitchFamily="34" charset="0"/>
                <a:ea typeface="Mukta Light" pitchFamily="34" charset="-122"/>
                <a:cs typeface="Mukta Light" pitchFamily="34" charset="-120"/>
              </a:rPr>
              <a:t>Complejidad Temporal</a:t>
            </a:r>
            <a:endParaRPr lang="en-US" sz="1700" dirty="0"/>
          </a:p>
        </p:txBody>
      </p:sp>
      <p:sp>
        <p:nvSpPr>
          <p:cNvPr id="12" name="Text 10"/>
          <p:cNvSpPr/>
          <p:nvPr/>
        </p:nvSpPr>
        <p:spPr>
          <a:xfrm>
            <a:off x="4968716" y="3751064"/>
            <a:ext cx="4050387"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O(n) - Lento para grandes conjuntos de datos.</a:t>
            </a:r>
            <a:endParaRPr lang="en-US" sz="1700" dirty="0"/>
          </a:p>
        </p:txBody>
      </p:sp>
      <p:sp>
        <p:nvSpPr>
          <p:cNvPr id="13" name="Text 11"/>
          <p:cNvSpPr/>
          <p:nvPr/>
        </p:nvSpPr>
        <p:spPr>
          <a:xfrm>
            <a:off x="9467255" y="3751064"/>
            <a:ext cx="4054197"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O(log n) - Extremadamente eficiente para grandes conjuntos de datos.</a:t>
            </a:r>
            <a:endParaRPr lang="en-US" sz="1700" dirty="0"/>
          </a:p>
        </p:txBody>
      </p:sp>
      <p:sp>
        <p:nvSpPr>
          <p:cNvPr id="14" name="Shape 12"/>
          <p:cNvSpPr/>
          <p:nvPr/>
        </p:nvSpPr>
        <p:spPr>
          <a:xfrm>
            <a:off x="888683" y="4595693"/>
            <a:ext cx="12853035" cy="984409"/>
          </a:xfrm>
          <a:prstGeom prst="rect">
            <a:avLst/>
          </a:prstGeom>
          <a:solidFill>
            <a:srgbClr val="FFFFFF">
              <a:alpha val="4000"/>
            </a:srgbClr>
          </a:solidFill>
          <a:ln/>
        </p:spPr>
      </p:sp>
      <p:sp>
        <p:nvSpPr>
          <p:cNvPr id="15" name="Text 13"/>
          <p:cNvSpPr/>
          <p:nvPr/>
        </p:nvSpPr>
        <p:spPr>
          <a:xfrm>
            <a:off x="1109067" y="4735473"/>
            <a:ext cx="3411498" cy="352425"/>
          </a:xfrm>
          <a:prstGeom prst="rect">
            <a:avLst/>
          </a:prstGeom>
          <a:noFill/>
          <a:ln/>
        </p:spPr>
        <p:txBody>
          <a:bodyPr wrap="none" lIns="0" tIns="0" rIns="0" bIns="0" rtlCol="0" anchor="t"/>
          <a:lstStyle/>
          <a:p>
            <a:pPr marL="0" indent="0" algn="l">
              <a:lnSpc>
                <a:spcPts val="2750"/>
              </a:lnSpc>
              <a:buNone/>
            </a:pPr>
            <a:r>
              <a:rPr lang="en-US" sz="1700" b="1" dirty="0">
                <a:solidFill>
                  <a:srgbClr val="DAD8E9"/>
                </a:solidFill>
                <a:latin typeface="Mukta Light" pitchFamily="34" charset="0"/>
                <a:ea typeface="Mukta Light" pitchFamily="34" charset="-122"/>
                <a:cs typeface="Mukta Light" pitchFamily="34" charset="-120"/>
              </a:rPr>
              <a:t>Requisito de Orden</a:t>
            </a:r>
            <a:endParaRPr lang="en-US" sz="1700" dirty="0"/>
          </a:p>
        </p:txBody>
      </p:sp>
      <p:sp>
        <p:nvSpPr>
          <p:cNvPr id="16" name="Text 14"/>
          <p:cNvSpPr/>
          <p:nvPr/>
        </p:nvSpPr>
        <p:spPr>
          <a:xfrm>
            <a:off x="4968716" y="4735473"/>
            <a:ext cx="4050387" cy="352425"/>
          </a:xfrm>
          <a:prstGeom prst="rect">
            <a:avLst/>
          </a:prstGeom>
          <a:noFill/>
          <a:ln/>
        </p:spPr>
        <p:txBody>
          <a:bodyPr wrap="none" lIns="0" tIns="0" rIns="0" bIns="0" rtlCol="0" anchor="t"/>
          <a:lstStyle/>
          <a:p>
            <a:pPr marL="0" indent="0" algn="l">
              <a:lnSpc>
                <a:spcPts val="2750"/>
              </a:lnSpc>
              <a:buNone/>
            </a:pPr>
            <a:r>
              <a:rPr lang="en-US" sz="1700" dirty="0">
                <a:solidFill>
                  <a:srgbClr val="5CC97B"/>
                </a:solidFill>
                <a:latin typeface="Mukta Light" pitchFamily="34" charset="0"/>
                <a:ea typeface="Mukta Light" pitchFamily="34" charset="-122"/>
                <a:cs typeface="Mukta Light" pitchFamily="34" charset="-120"/>
              </a:rPr>
              <a:t>No</a:t>
            </a:r>
            <a:r>
              <a:rPr lang="en-US" sz="1700" dirty="0">
                <a:solidFill>
                  <a:srgbClr val="DAD8E9"/>
                </a:solidFill>
                <a:latin typeface="Mukta Light" pitchFamily="34" charset="0"/>
                <a:ea typeface="Mukta Light" pitchFamily="34" charset="-122"/>
                <a:cs typeface="Mukta Light" pitchFamily="34" charset="-120"/>
              </a:rPr>
              <a:t> requiere que la lista esté ordenada.</a:t>
            </a:r>
            <a:endParaRPr lang="en-US" sz="1700" dirty="0"/>
          </a:p>
        </p:txBody>
      </p:sp>
      <p:sp>
        <p:nvSpPr>
          <p:cNvPr id="17" name="Text 15"/>
          <p:cNvSpPr/>
          <p:nvPr/>
        </p:nvSpPr>
        <p:spPr>
          <a:xfrm>
            <a:off x="9467255" y="4735473"/>
            <a:ext cx="4054197" cy="704850"/>
          </a:xfrm>
          <a:prstGeom prst="rect">
            <a:avLst/>
          </a:prstGeom>
          <a:noFill/>
          <a:ln/>
        </p:spPr>
        <p:txBody>
          <a:bodyPr wrap="square" lIns="0" tIns="0" rIns="0" bIns="0" rtlCol="0" anchor="t"/>
          <a:lstStyle/>
          <a:p>
            <a:pPr marL="0" indent="0" algn="l">
              <a:lnSpc>
                <a:spcPts val="2750"/>
              </a:lnSpc>
              <a:buNone/>
            </a:pPr>
            <a:r>
              <a:rPr lang="en-US" sz="1700" dirty="0">
                <a:solidFill>
                  <a:srgbClr val="910D0D"/>
                </a:solidFill>
                <a:latin typeface="Mukta Light" pitchFamily="34" charset="0"/>
                <a:ea typeface="Mukta Light" pitchFamily="34" charset="-122"/>
                <a:cs typeface="Mukta Light" pitchFamily="34" charset="-120"/>
              </a:rPr>
              <a:t>Sí</a:t>
            </a:r>
            <a:r>
              <a:rPr lang="en-US" sz="1700" dirty="0">
                <a:solidFill>
                  <a:srgbClr val="DAD8E9"/>
                </a:solidFill>
                <a:latin typeface="Mukta Light" pitchFamily="34" charset="0"/>
                <a:ea typeface="Mukta Light" pitchFamily="34" charset="-122"/>
                <a:cs typeface="Mukta Light" pitchFamily="34" charset="-120"/>
              </a:rPr>
              <a:t> requiere que la lista esté ordenada previamente.</a:t>
            </a:r>
            <a:endParaRPr lang="en-US" sz="1700" dirty="0"/>
          </a:p>
        </p:txBody>
      </p:sp>
      <p:sp>
        <p:nvSpPr>
          <p:cNvPr id="18" name="Shape 16"/>
          <p:cNvSpPr/>
          <p:nvPr/>
        </p:nvSpPr>
        <p:spPr>
          <a:xfrm>
            <a:off x="888683" y="5580102"/>
            <a:ext cx="12853035" cy="984409"/>
          </a:xfrm>
          <a:prstGeom prst="rect">
            <a:avLst/>
          </a:prstGeom>
          <a:solidFill>
            <a:srgbClr val="000000">
              <a:alpha val="4000"/>
            </a:srgbClr>
          </a:solidFill>
          <a:ln/>
        </p:spPr>
      </p:sp>
      <p:sp>
        <p:nvSpPr>
          <p:cNvPr id="19" name="Text 17"/>
          <p:cNvSpPr/>
          <p:nvPr/>
        </p:nvSpPr>
        <p:spPr>
          <a:xfrm>
            <a:off x="1109067" y="5719882"/>
            <a:ext cx="3411498" cy="352425"/>
          </a:xfrm>
          <a:prstGeom prst="rect">
            <a:avLst/>
          </a:prstGeom>
          <a:noFill/>
          <a:ln/>
        </p:spPr>
        <p:txBody>
          <a:bodyPr wrap="none" lIns="0" tIns="0" rIns="0" bIns="0" rtlCol="0" anchor="t"/>
          <a:lstStyle/>
          <a:p>
            <a:pPr marL="0" indent="0" algn="l">
              <a:lnSpc>
                <a:spcPts val="2750"/>
              </a:lnSpc>
              <a:buNone/>
            </a:pPr>
            <a:r>
              <a:rPr lang="en-US" sz="1700" b="1" dirty="0">
                <a:solidFill>
                  <a:srgbClr val="DAD8E9"/>
                </a:solidFill>
                <a:latin typeface="Mukta Light" pitchFamily="34" charset="0"/>
                <a:ea typeface="Mukta Light" pitchFamily="34" charset="-122"/>
                <a:cs typeface="Mukta Light" pitchFamily="34" charset="-120"/>
              </a:rPr>
              <a:t>Facilidad de Implementación</a:t>
            </a:r>
            <a:endParaRPr lang="en-US" sz="1700" dirty="0"/>
          </a:p>
        </p:txBody>
      </p:sp>
      <p:sp>
        <p:nvSpPr>
          <p:cNvPr id="20" name="Text 18"/>
          <p:cNvSpPr/>
          <p:nvPr/>
        </p:nvSpPr>
        <p:spPr>
          <a:xfrm>
            <a:off x="4968716" y="5719882"/>
            <a:ext cx="4050387" cy="352425"/>
          </a:xfrm>
          <a:prstGeom prst="rect">
            <a:avLst/>
          </a:prstGeom>
          <a:noFill/>
          <a:ln/>
        </p:spPr>
        <p:txBody>
          <a:bodyPr wrap="non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Muy </a:t>
            </a:r>
            <a:r>
              <a:rPr lang="en-US" sz="1700" b="1" dirty="0">
                <a:solidFill>
                  <a:srgbClr val="DAD8E9"/>
                </a:solidFill>
                <a:latin typeface="Mukta Light" pitchFamily="34" charset="0"/>
                <a:ea typeface="Mukta Light" pitchFamily="34" charset="-122"/>
                <a:cs typeface="Mukta Light" pitchFamily="34" charset="-120"/>
              </a:rPr>
              <a:t>simple</a:t>
            </a:r>
            <a:r>
              <a:rPr lang="en-US" sz="1700" dirty="0">
                <a:solidFill>
                  <a:srgbClr val="DAD8E9"/>
                </a:solidFill>
                <a:latin typeface="Mukta Light" pitchFamily="34" charset="0"/>
                <a:ea typeface="Mukta Light" pitchFamily="34" charset="-122"/>
                <a:cs typeface="Mukta Light" pitchFamily="34" charset="-120"/>
              </a:rPr>
              <a:t> y directa.</a:t>
            </a:r>
            <a:endParaRPr lang="en-US" sz="1700" dirty="0"/>
          </a:p>
        </p:txBody>
      </p:sp>
      <p:sp>
        <p:nvSpPr>
          <p:cNvPr id="21" name="Text 19"/>
          <p:cNvSpPr/>
          <p:nvPr/>
        </p:nvSpPr>
        <p:spPr>
          <a:xfrm>
            <a:off x="9467255" y="5719882"/>
            <a:ext cx="4054197" cy="704850"/>
          </a:xfrm>
          <a:prstGeom prst="rect">
            <a:avLst/>
          </a:prstGeom>
          <a:noFill/>
          <a:ln/>
        </p:spPr>
        <p:txBody>
          <a:bodyPr wrap="square" lIns="0" tIns="0" rIns="0" bIns="0" rtlCol="0" anchor="t"/>
          <a:lstStyle/>
          <a:p>
            <a:pPr marL="0" indent="0" algn="l">
              <a:lnSpc>
                <a:spcPts val="2750"/>
              </a:lnSpc>
              <a:buNone/>
            </a:pPr>
            <a:r>
              <a:rPr lang="en-US" sz="1700" b="1" dirty="0">
                <a:solidFill>
                  <a:srgbClr val="DAD8E9"/>
                </a:solidFill>
                <a:latin typeface="Mukta Light" pitchFamily="34" charset="0"/>
                <a:ea typeface="Mukta Light" pitchFamily="34" charset="-122"/>
                <a:cs typeface="Mukta Light" pitchFamily="34" charset="-120"/>
              </a:rPr>
              <a:t>Moderada</a:t>
            </a:r>
            <a:r>
              <a:rPr lang="en-US" sz="1700" dirty="0">
                <a:solidFill>
                  <a:srgbClr val="DAD8E9"/>
                </a:solidFill>
                <a:latin typeface="Mukta Light" pitchFamily="34" charset="0"/>
                <a:ea typeface="Mukta Light" pitchFamily="34" charset="-122"/>
                <a:cs typeface="Mukta Light" pitchFamily="34" charset="-120"/>
              </a:rPr>
              <a:t>, requiere manejar índices (izquierda, derecha, medio).</a:t>
            </a:r>
            <a:endParaRPr lang="en-US" sz="1700" dirty="0"/>
          </a:p>
        </p:txBody>
      </p:sp>
      <p:sp>
        <p:nvSpPr>
          <p:cNvPr id="22" name="Shape 20"/>
          <p:cNvSpPr/>
          <p:nvPr/>
        </p:nvSpPr>
        <p:spPr>
          <a:xfrm>
            <a:off x="888683" y="6564511"/>
            <a:ext cx="12853035" cy="984409"/>
          </a:xfrm>
          <a:prstGeom prst="rect">
            <a:avLst/>
          </a:prstGeom>
          <a:solidFill>
            <a:srgbClr val="FFFFFF">
              <a:alpha val="4000"/>
            </a:srgbClr>
          </a:solidFill>
          <a:ln/>
        </p:spPr>
      </p:sp>
      <p:sp>
        <p:nvSpPr>
          <p:cNvPr id="23" name="Text 21"/>
          <p:cNvSpPr/>
          <p:nvPr/>
        </p:nvSpPr>
        <p:spPr>
          <a:xfrm>
            <a:off x="1109067" y="6704290"/>
            <a:ext cx="3411498" cy="352425"/>
          </a:xfrm>
          <a:prstGeom prst="rect">
            <a:avLst/>
          </a:prstGeom>
          <a:noFill/>
          <a:ln/>
        </p:spPr>
        <p:txBody>
          <a:bodyPr wrap="none" lIns="0" tIns="0" rIns="0" bIns="0" rtlCol="0" anchor="t"/>
          <a:lstStyle/>
          <a:p>
            <a:pPr marL="0" indent="0" algn="l">
              <a:lnSpc>
                <a:spcPts val="2750"/>
              </a:lnSpc>
              <a:buNone/>
            </a:pPr>
            <a:r>
              <a:rPr lang="en-US" sz="1700" b="1" dirty="0">
                <a:solidFill>
                  <a:srgbClr val="DAD8E9"/>
                </a:solidFill>
                <a:latin typeface="Mukta Light" pitchFamily="34" charset="0"/>
                <a:ea typeface="Mukta Light" pitchFamily="34" charset="-122"/>
                <a:cs typeface="Mukta Light" pitchFamily="34" charset="-120"/>
              </a:rPr>
              <a:t>Caso de Uso Ideal</a:t>
            </a:r>
            <a:endParaRPr lang="en-US" sz="1700" dirty="0"/>
          </a:p>
        </p:txBody>
      </p:sp>
      <p:sp>
        <p:nvSpPr>
          <p:cNvPr id="24" name="Text 22"/>
          <p:cNvSpPr/>
          <p:nvPr/>
        </p:nvSpPr>
        <p:spPr>
          <a:xfrm>
            <a:off x="4968716" y="6704290"/>
            <a:ext cx="4050387"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Listas </a:t>
            </a:r>
            <a:r>
              <a:rPr lang="en-US" sz="1700" b="1" dirty="0">
                <a:solidFill>
                  <a:srgbClr val="DAD8E9"/>
                </a:solidFill>
                <a:latin typeface="Mukta Light" pitchFamily="34" charset="0"/>
                <a:ea typeface="Mukta Light" pitchFamily="34" charset="-122"/>
                <a:cs typeface="Mukta Light" pitchFamily="34" charset="-120"/>
              </a:rPr>
              <a:t>pequeñas</a:t>
            </a:r>
            <a:r>
              <a:rPr lang="en-US" sz="1700" dirty="0">
                <a:solidFill>
                  <a:srgbClr val="DAD8E9"/>
                </a:solidFill>
                <a:latin typeface="Mukta Light" pitchFamily="34" charset="0"/>
                <a:ea typeface="Mukta Light" pitchFamily="34" charset="-122"/>
                <a:cs typeface="Mukta Light" pitchFamily="34" charset="-120"/>
              </a:rPr>
              <a:t> o </a:t>
            </a:r>
            <a:r>
              <a:rPr lang="en-US" sz="1700" b="1" dirty="0">
                <a:solidFill>
                  <a:srgbClr val="DAD8E9"/>
                </a:solidFill>
                <a:latin typeface="Mukta Light" pitchFamily="34" charset="0"/>
                <a:ea typeface="Mukta Light" pitchFamily="34" charset="-122"/>
                <a:cs typeface="Mukta Light" pitchFamily="34" charset="-120"/>
              </a:rPr>
              <a:t>sin ordenar</a:t>
            </a:r>
            <a:r>
              <a:rPr lang="en-US" sz="1700" dirty="0">
                <a:solidFill>
                  <a:srgbClr val="DAD8E9"/>
                </a:solidFill>
                <a:latin typeface="Mukta Light" pitchFamily="34" charset="0"/>
                <a:ea typeface="Mukta Light" pitchFamily="34" charset="-122"/>
                <a:cs typeface="Mukta Light" pitchFamily="34" charset="-120"/>
              </a:rPr>
              <a:t>, o cuando el orden no se puede garantizar.</a:t>
            </a:r>
            <a:endParaRPr lang="en-US" sz="1700" dirty="0"/>
          </a:p>
        </p:txBody>
      </p:sp>
      <p:sp>
        <p:nvSpPr>
          <p:cNvPr id="25" name="Text 23"/>
          <p:cNvSpPr/>
          <p:nvPr/>
        </p:nvSpPr>
        <p:spPr>
          <a:xfrm>
            <a:off x="9467255" y="6704290"/>
            <a:ext cx="4054197" cy="704850"/>
          </a:xfrm>
          <a:prstGeom prst="rect">
            <a:avLst/>
          </a:prstGeom>
          <a:noFill/>
          <a:ln/>
        </p:spPr>
        <p:txBody>
          <a:bodyPr wrap="square" lIns="0" tIns="0" rIns="0" bIns="0" rtlCol="0" anchor="t"/>
          <a:lstStyle/>
          <a:p>
            <a:pPr marL="0" indent="0" algn="l">
              <a:lnSpc>
                <a:spcPts val="2750"/>
              </a:lnSpc>
              <a:buNone/>
            </a:pPr>
            <a:r>
              <a:rPr lang="en-US" sz="1700" dirty="0">
                <a:solidFill>
                  <a:srgbClr val="DAD8E9"/>
                </a:solidFill>
                <a:latin typeface="Mukta Light" pitchFamily="34" charset="0"/>
                <a:ea typeface="Mukta Light" pitchFamily="34" charset="-122"/>
                <a:cs typeface="Mukta Light" pitchFamily="34" charset="-120"/>
              </a:rPr>
              <a:t>Listas </a:t>
            </a:r>
            <a:r>
              <a:rPr lang="en-US" sz="1700" b="1" dirty="0">
                <a:solidFill>
                  <a:srgbClr val="DAD8E9"/>
                </a:solidFill>
                <a:latin typeface="Mukta Light" pitchFamily="34" charset="0"/>
                <a:ea typeface="Mukta Light" pitchFamily="34" charset="-122"/>
                <a:cs typeface="Mukta Light" pitchFamily="34" charset="-120"/>
              </a:rPr>
              <a:t>grandes</a:t>
            </a:r>
            <a:r>
              <a:rPr lang="en-US" sz="1700" dirty="0">
                <a:solidFill>
                  <a:srgbClr val="DAD8E9"/>
                </a:solidFill>
                <a:latin typeface="Mukta Light" pitchFamily="34" charset="0"/>
                <a:ea typeface="Mukta Light" pitchFamily="34" charset="-122"/>
                <a:cs typeface="Mukta Light" pitchFamily="34" charset="-120"/>
              </a:rPr>
              <a:t> y </a:t>
            </a:r>
            <a:r>
              <a:rPr lang="en-US" sz="1700" b="1" dirty="0">
                <a:solidFill>
                  <a:srgbClr val="DAD8E9"/>
                </a:solidFill>
                <a:latin typeface="Mukta Light" pitchFamily="34" charset="0"/>
                <a:ea typeface="Mukta Light" pitchFamily="34" charset="-122"/>
                <a:cs typeface="Mukta Light" pitchFamily="34" charset="-120"/>
              </a:rPr>
              <a:t>ordenadas</a:t>
            </a:r>
            <a:r>
              <a:rPr lang="en-US" sz="1700" dirty="0">
                <a:solidFill>
                  <a:srgbClr val="DAD8E9"/>
                </a:solidFill>
                <a:latin typeface="Mukta Light" pitchFamily="34" charset="0"/>
                <a:ea typeface="Mukta Light" pitchFamily="34" charset="-122"/>
                <a:cs typeface="Mukta Light" pitchFamily="34" charset="-120"/>
              </a:rPr>
              <a:t>, donde la eficiencia es crítica.</a:t>
            </a:r>
            <a:endParaRPr lang="en-US" sz="1700" dirty="0"/>
          </a:p>
        </p:txBody>
      </p:sp>
      <p:pic>
        <p:nvPicPr>
          <p:cNvPr id="26" name="Imagen 25">
            <a:extLst>
              <a:ext uri="{FF2B5EF4-FFF2-40B4-BE49-F238E27FC236}">
                <a16:creationId xmlns:a16="http://schemas.microsoft.com/office/drawing/2014/main" id="{904F0D47-B0B8-9447-C379-8A76EA4323FD}"/>
              </a:ext>
            </a:extLst>
          </p:cNvPr>
          <p:cNvPicPr>
            <a:picLocks noChangeAspect="1"/>
          </p:cNvPicPr>
          <p:nvPr/>
        </p:nvPicPr>
        <p:blipFill>
          <a:blip r:embed="rId3"/>
          <a:stretch>
            <a:fillRect/>
          </a:stretch>
        </p:blipFill>
        <p:spPr>
          <a:xfrm>
            <a:off x="11693814" y="7498104"/>
            <a:ext cx="2936586" cy="73149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03796" y="530066"/>
            <a:ext cx="3422690" cy="267653"/>
          </a:xfrm>
          <a:prstGeom prst="rect">
            <a:avLst/>
          </a:prstGeom>
          <a:noFill/>
          <a:ln/>
        </p:spPr>
        <p:txBody>
          <a:bodyPr wrap="none" lIns="0" tIns="0" rIns="0" bIns="0" rtlCol="0" anchor="t"/>
          <a:lstStyle/>
          <a:p>
            <a:pPr marL="0" indent="0" algn="ctr">
              <a:lnSpc>
                <a:spcPts val="2100"/>
              </a:lnSpc>
              <a:buNone/>
            </a:pPr>
            <a:r>
              <a:rPr lang="en-US" sz="1650" dirty="0">
                <a:solidFill>
                  <a:srgbClr val="C6BFEE"/>
                </a:solidFill>
                <a:latin typeface="Prompt Medium" pitchFamily="34" charset="0"/>
                <a:ea typeface="Prompt Medium" pitchFamily="34" charset="-122"/>
                <a:cs typeface="Prompt Medium" pitchFamily="34" charset="-120"/>
              </a:rPr>
              <a:t>Pon a Prueba tus Conocimientos</a:t>
            </a:r>
            <a:endParaRPr lang="en-US" sz="1650" dirty="0"/>
          </a:p>
        </p:txBody>
      </p:sp>
      <p:sp>
        <p:nvSpPr>
          <p:cNvPr id="3" name="Text 1"/>
          <p:cNvSpPr/>
          <p:nvPr/>
        </p:nvSpPr>
        <p:spPr>
          <a:xfrm>
            <a:off x="771049" y="990481"/>
            <a:ext cx="7533442" cy="428268"/>
          </a:xfrm>
          <a:prstGeom prst="rect">
            <a:avLst/>
          </a:prstGeom>
          <a:noFill/>
          <a:ln/>
        </p:spPr>
        <p:txBody>
          <a:bodyPr wrap="none" lIns="0" tIns="0" rIns="0" bIns="0" rtlCol="0" anchor="t"/>
          <a:lstStyle/>
          <a:p>
            <a:pPr marL="0" indent="0" algn="l">
              <a:lnSpc>
                <a:spcPts val="3350"/>
              </a:lnSpc>
              <a:buNone/>
            </a:pPr>
            <a:r>
              <a:rPr lang="en-US" sz="2650" dirty="0">
                <a:solidFill>
                  <a:srgbClr val="C6BFEE"/>
                </a:solidFill>
                <a:latin typeface="Prompt Medium" pitchFamily="34" charset="0"/>
                <a:ea typeface="Prompt Medium" pitchFamily="34" charset="-122"/>
                <a:cs typeface="Prompt Medium" pitchFamily="34" charset="-120"/>
              </a:rPr>
              <a:t>Ejercicio Práctico: Búsqueda Lineal de Países</a:t>
            </a:r>
            <a:endParaRPr lang="en-US" sz="2650" dirty="0"/>
          </a:p>
        </p:txBody>
      </p:sp>
      <p:sp>
        <p:nvSpPr>
          <p:cNvPr id="4" name="Text 2"/>
          <p:cNvSpPr/>
          <p:nvPr/>
        </p:nvSpPr>
        <p:spPr>
          <a:xfrm>
            <a:off x="771049" y="1707832"/>
            <a:ext cx="13088303" cy="308372"/>
          </a:xfrm>
          <a:prstGeom prst="rect">
            <a:avLst/>
          </a:prstGeom>
          <a:noFill/>
          <a:ln/>
        </p:spPr>
        <p:txBody>
          <a:bodyPr wrap="none" lIns="0" tIns="0" rIns="0" bIns="0" rtlCol="0" anchor="t"/>
          <a:lstStyle/>
          <a:p>
            <a:pPr marL="0" indent="0" algn="l">
              <a:lnSpc>
                <a:spcPts val="2400"/>
              </a:lnSpc>
              <a:buNone/>
            </a:pPr>
            <a:r>
              <a:rPr lang="en-US" sz="1500" dirty="0">
                <a:solidFill>
                  <a:srgbClr val="DAD8E9"/>
                </a:solidFill>
                <a:latin typeface="Mukta Light" pitchFamily="34" charset="0"/>
                <a:ea typeface="Mukta Light" pitchFamily="34" charset="-122"/>
                <a:cs typeface="Mukta Light" pitchFamily="34" charset="-120"/>
              </a:rPr>
              <a:t>¡Es tu turno de programar! Utilizando lo aprendido sobre la búsqueda lineal, resuelve el siguiente problema:</a:t>
            </a:r>
            <a:endParaRPr lang="en-US" sz="1500" dirty="0"/>
          </a:p>
        </p:txBody>
      </p:sp>
      <p:sp>
        <p:nvSpPr>
          <p:cNvPr id="5" name="Text 3"/>
          <p:cNvSpPr/>
          <p:nvPr/>
        </p:nvSpPr>
        <p:spPr>
          <a:xfrm>
            <a:off x="1060133" y="2522101"/>
            <a:ext cx="2570321" cy="321231"/>
          </a:xfrm>
          <a:prstGeom prst="rect">
            <a:avLst/>
          </a:prstGeom>
          <a:noFill/>
          <a:ln/>
        </p:spPr>
        <p:txBody>
          <a:bodyPr wrap="none" lIns="0" tIns="0" rIns="0" bIns="0" rtlCol="0" anchor="t"/>
          <a:lstStyle/>
          <a:p>
            <a:pPr marL="0" indent="0" algn="l">
              <a:lnSpc>
                <a:spcPts val="2500"/>
              </a:lnSpc>
              <a:buNone/>
            </a:pPr>
            <a:r>
              <a:rPr lang="en-US" sz="2000" dirty="0">
                <a:solidFill>
                  <a:srgbClr val="C6BFEE"/>
                </a:solidFill>
                <a:latin typeface="Prompt Medium" pitchFamily="34" charset="0"/>
                <a:ea typeface="Prompt Medium" pitchFamily="34" charset="-122"/>
                <a:cs typeface="Prompt Medium" pitchFamily="34" charset="-120"/>
              </a:rPr>
              <a:t>Problema:</a:t>
            </a:r>
            <a:endParaRPr lang="en-US" sz="2000" dirty="0"/>
          </a:p>
        </p:txBody>
      </p:sp>
      <p:sp>
        <p:nvSpPr>
          <p:cNvPr id="6" name="Text 4"/>
          <p:cNvSpPr/>
          <p:nvPr/>
        </p:nvSpPr>
        <p:spPr>
          <a:xfrm>
            <a:off x="1060133" y="3132415"/>
            <a:ext cx="12799219" cy="616744"/>
          </a:xfrm>
          <a:prstGeom prst="rect">
            <a:avLst/>
          </a:prstGeom>
          <a:noFill/>
          <a:ln/>
        </p:spPr>
        <p:txBody>
          <a:bodyPr wrap="square" lIns="0" tIns="0" rIns="0" bIns="0" rtlCol="0" anchor="t"/>
          <a:lstStyle/>
          <a:p>
            <a:pPr marL="0" indent="0" algn="l">
              <a:lnSpc>
                <a:spcPts val="2400"/>
              </a:lnSpc>
              <a:buNone/>
            </a:pPr>
            <a:r>
              <a:rPr lang="en-US" sz="1500" dirty="0">
                <a:solidFill>
                  <a:srgbClr val="DAD8E9"/>
                </a:solidFill>
                <a:latin typeface="Mukta Light" pitchFamily="34" charset="0"/>
                <a:ea typeface="Mukta Light" pitchFamily="34" charset="-122"/>
                <a:cs typeface="Mukta Light" pitchFamily="34" charset="-120"/>
              </a:rPr>
              <a:t>Tienes una lista de nombres de países. Debes implementar una función en Python (o tu lenguaje preferido) que, dado un nombre de país, determine si está presente en la lista y, en caso afirmativo, retorne su posición (índice).</a:t>
            </a:r>
            <a:endParaRPr lang="en-US" sz="1500" dirty="0"/>
          </a:p>
        </p:txBody>
      </p:sp>
      <p:sp>
        <p:nvSpPr>
          <p:cNvPr id="7" name="Text 5"/>
          <p:cNvSpPr/>
          <p:nvPr/>
        </p:nvSpPr>
        <p:spPr>
          <a:xfrm>
            <a:off x="1060133" y="3965972"/>
            <a:ext cx="12799219" cy="308372"/>
          </a:xfrm>
          <a:prstGeom prst="rect">
            <a:avLst/>
          </a:prstGeom>
          <a:noFill/>
          <a:ln/>
        </p:spPr>
        <p:txBody>
          <a:bodyPr wrap="none" lIns="0" tIns="0" rIns="0" bIns="0" rtlCol="0" anchor="t"/>
          <a:lstStyle/>
          <a:p>
            <a:pPr marL="0" indent="0" algn="l">
              <a:lnSpc>
                <a:spcPts val="2400"/>
              </a:lnSpc>
              <a:buNone/>
            </a:pPr>
            <a:r>
              <a:rPr lang="en-US" sz="1500" b="1" dirty="0">
                <a:solidFill>
                  <a:srgbClr val="DAD8E9"/>
                </a:solidFill>
                <a:latin typeface="Mukta Light" pitchFamily="34" charset="0"/>
                <a:ea typeface="Mukta Light" pitchFamily="34" charset="-122"/>
                <a:cs typeface="Mukta Light" pitchFamily="34" charset="-120"/>
              </a:rPr>
              <a:t>Lista de ejemplo:</a:t>
            </a:r>
            <a:endParaRPr lang="en-US" sz="1500" dirty="0"/>
          </a:p>
        </p:txBody>
      </p:sp>
      <p:sp>
        <p:nvSpPr>
          <p:cNvPr id="8" name="Shape 6"/>
          <p:cNvSpPr/>
          <p:nvPr/>
        </p:nvSpPr>
        <p:spPr>
          <a:xfrm>
            <a:off x="1060133" y="4491157"/>
            <a:ext cx="12799219" cy="905828"/>
          </a:xfrm>
          <a:prstGeom prst="roundRect">
            <a:avLst>
              <a:gd name="adj" fmla="val 8939"/>
            </a:avLst>
          </a:prstGeom>
          <a:solidFill>
            <a:srgbClr val="181930"/>
          </a:solidFill>
          <a:ln/>
        </p:spPr>
      </p:sp>
      <p:sp>
        <p:nvSpPr>
          <p:cNvPr id="9" name="Shape 7"/>
          <p:cNvSpPr/>
          <p:nvPr/>
        </p:nvSpPr>
        <p:spPr>
          <a:xfrm>
            <a:off x="1050608" y="4491157"/>
            <a:ext cx="12818269" cy="905828"/>
          </a:xfrm>
          <a:prstGeom prst="roundRect">
            <a:avLst>
              <a:gd name="adj" fmla="val 3192"/>
            </a:avLst>
          </a:prstGeom>
          <a:solidFill>
            <a:srgbClr val="181930"/>
          </a:solidFill>
          <a:ln/>
        </p:spPr>
      </p:sp>
      <p:sp>
        <p:nvSpPr>
          <p:cNvPr id="10" name="Text 8"/>
          <p:cNvSpPr/>
          <p:nvPr/>
        </p:nvSpPr>
        <p:spPr>
          <a:xfrm>
            <a:off x="1243370" y="4635698"/>
            <a:ext cx="12432744" cy="616744"/>
          </a:xfrm>
          <a:prstGeom prst="rect">
            <a:avLst/>
          </a:prstGeom>
          <a:noFill/>
          <a:ln/>
        </p:spPr>
        <p:txBody>
          <a:bodyPr wrap="square" lIns="0" tIns="0" rIns="0" bIns="0" rtlCol="0" anchor="t"/>
          <a:lstStyle/>
          <a:p>
            <a:pPr marL="0" indent="0" algn="l">
              <a:lnSpc>
                <a:spcPts val="2400"/>
              </a:lnSpc>
              <a:buNone/>
            </a:pPr>
            <a:r>
              <a:rPr lang="en-US" sz="1500" dirty="0">
                <a:solidFill>
                  <a:srgbClr val="DAD8E9"/>
                </a:solidFill>
                <a:highlight>
                  <a:srgbClr val="181930"/>
                </a:highlight>
                <a:latin typeface="Consolas Light" pitchFamily="34" charset="0"/>
                <a:ea typeface="Consolas Light" pitchFamily="34" charset="-122"/>
                <a:cs typeface="Consolas Light" pitchFamily="34" charset="-120"/>
              </a:rPr>
              <a:t>paises = ["España", "Francia", "Alemania", "Italia", "Portugal", "Reino Unido", "Suecia", "Noruega", "Dinamarca", "Finlandia"]    </a:t>
            </a:r>
            <a:endParaRPr lang="en-US" sz="1500" dirty="0"/>
          </a:p>
        </p:txBody>
      </p:sp>
      <p:sp>
        <p:nvSpPr>
          <p:cNvPr id="11" name="Text 9"/>
          <p:cNvSpPr/>
          <p:nvPr/>
        </p:nvSpPr>
        <p:spPr>
          <a:xfrm>
            <a:off x="1060133" y="5613797"/>
            <a:ext cx="12799219" cy="308372"/>
          </a:xfrm>
          <a:prstGeom prst="rect">
            <a:avLst/>
          </a:prstGeom>
          <a:noFill/>
          <a:ln/>
        </p:spPr>
        <p:txBody>
          <a:bodyPr wrap="none" lIns="0" tIns="0" rIns="0" bIns="0" rtlCol="0" anchor="t"/>
          <a:lstStyle/>
          <a:p>
            <a:pPr marL="0" indent="0" algn="l">
              <a:lnSpc>
                <a:spcPts val="2400"/>
              </a:lnSpc>
              <a:buNone/>
            </a:pPr>
            <a:r>
              <a:rPr lang="en-US" sz="1500" b="1" dirty="0">
                <a:solidFill>
                  <a:srgbClr val="DAD8E9"/>
                </a:solidFill>
                <a:latin typeface="Mukta Light" pitchFamily="34" charset="0"/>
                <a:ea typeface="Mukta Light" pitchFamily="34" charset="-122"/>
                <a:cs typeface="Mukta Light" pitchFamily="34" charset="-120"/>
              </a:rPr>
              <a:t>Valores a buscar:</a:t>
            </a:r>
            <a:r>
              <a:rPr lang="en-US" sz="1500" dirty="0">
                <a:solidFill>
                  <a:srgbClr val="DAD8E9"/>
                </a:solidFill>
                <a:latin typeface="Mukta Light" pitchFamily="34" charset="0"/>
                <a:ea typeface="Mukta Light" pitchFamily="34" charset="-122"/>
                <a:cs typeface="Mukta Light" pitchFamily="34" charset="-120"/>
              </a:rPr>
              <a:t> "Alemania", "Japón", "Portugal".</a:t>
            </a:r>
            <a:endParaRPr lang="en-US" sz="1500" dirty="0"/>
          </a:p>
        </p:txBody>
      </p:sp>
      <p:sp>
        <p:nvSpPr>
          <p:cNvPr id="12" name="Shape 10"/>
          <p:cNvSpPr/>
          <p:nvPr/>
        </p:nvSpPr>
        <p:spPr>
          <a:xfrm>
            <a:off x="771049" y="2233017"/>
            <a:ext cx="22860" cy="3905964"/>
          </a:xfrm>
          <a:prstGeom prst="rect">
            <a:avLst/>
          </a:prstGeom>
          <a:solidFill>
            <a:srgbClr val="A95B95"/>
          </a:solidFill>
          <a:ln/>
        </p:spPr>
      </p:sp>
      <p:sp>
        <p:nvSpPr>
          <p:cNvPr id="13" name="Shape 11"/>
          <p:cNvSpPr/>
          <p:nvPr/>
        </p:nvSpPr>
        <p:spPr>
          <a:xfrm>
            <a:off x="771049" y="6355794"/>
            <a:ext cx="13088303" cy="819031"/>
          </a:xfrm>
          <a:prstGeom prst="roundRect">
            <a:avLst>
              <a:gd name="adj" fmla="val 9886"/>
            </a:avLst>
          </a:prstGeom>
          <a:solidFill>
            <a:srgbClr val="022349"/>
          </a:solidFill>
          <a:ln/>
        </p:spPr>
      </p:sp>
      <p:pic>
        <p:nvPicPr>
          <p:cNvPr id="14" name="Image 0" descr="preencoded.png"/>
          <p:cNvPicPr>
            <a:picLocks noChangeAspect="1"/>
          </p:cNvPicPr>
          <p:nvPr/>
        </p:nvPicPr>
        <p:blipFill>
          <a:blip r:embed="rId3"/>
          <a:stretch>
            <a:fillRect/>
          </a:stretch>
        </p:blipFill>
        <p:spPr>
          <a:xfrm>
            <a:off x="963811" y="6641306"/>
            <a:ext cx="240863" cy="192762"/>
          </a:xfrm>
          <a:prstGeom prst="rect">
            <a:avLst/>
          </a:prstGeom>
        </p:spPr>
      </p:pic>
      <p:sp>
        <p:nvSpPr>
          <p:cNvPr id="15" name="Text 12"/>
          <p:cNvSpPr/>
          <p:nvPr/>
        </p:nvSpPr>
        <p:spPr>
          <a:xfrm>
            <a:off x="1397437" y="6596658"/>
            <a:ext cx="12269152" cy="308372"/>
          </a:xfrm>
          <a:prstGeom prst="rect">
            <a:avLst/>
          </a:prstGeom>
          <a:noFill/>
          <a:ln/>
        </p:spPr>
        <p:txBody>
          <a:bodyPr wrap="none" lIns="0" tIns="0" rIns="0" bIns="0" rtlCol="0" anchor="t"/>
          <a:lstStyle/>
          <a:p>
            <a:pPr marL="0" indent="0" algn="l">
              <a:lnSpc>
                <a:spcPts val="2400"/>
              </a:lnSpc>
              <a:buNone/>
            </a:pPr>
            <a:r>
              <a:rPr lang="en-US" sz="1500" b="1" dirty="0">
                <a:solidFill>
                  <a:srgbClr val="FFFFFF"/>
                </a:solidFill>
                <a:latin typeface="Mukta Light" pitchFamily="34" charset="0"/>
                <a:ea typeface="Mukta Light" pitchFamily="34" charset="-122"/>
                <a:cs typeface="Mukta Light" pitchFamily="34" charset="-120"/>
              </a:rPr>
              <a:t>Pista:</a:t>
            </a:r>
            <a:r>
              <a:rPr lang="en-US" sz="1500" dirty="0">
                <a:solidFill>
                  <a:srgbClr val="FFFFFF"/>
                </a:solidFill>
                <a:latin typeface="Mukta Light" pitchFamily="34" charset="0"/>
                <a:ea typeface="Mukta Light" pitchFamily="34" charset="-122"/>
                <a:cs typeface="Mukta Light" pitchFamily="34" charset="-120"/>
              </a:rPr>
              <a:t> Recuerda que para la búsqueda lineal, no necesitas que la lista esté ordenada. ¡Concéntrate en recorrer cada elemento y comparar!</a:t>
            </a:r>
            <a:endParaRPr lang="en-US" sz="1500" dirty="0"/>
          </a:p>
        </p:txBody>
      </p:sp>
      <p:sp>
        <p:nvSpPr>
          <p:cNvPr id="16" name="Text 13"/>
          <p:cNvSpPr/>
          <p:nvPr/>
        </p:nvSpPr>
        <p:spPr>
          <a:xfrm>
            <a:off x="771049" y="7391638"/>
            <a:ext cx="13088303" cy="308372"/>
          </a:xfrm>
          <a:prstGeom prst="rect">
            <a:avLst/>
          </a:prstGeom>
          <a:noFill/>
          <a:ln/>
        </p:spPr>
        <p:txBody>
          <a:bodyPr wrap="none" lIns="0" tIns="0" rIns="0" bIns="0" rtlCol="0" anchor="t"/>
          <a:lstStyle/>
          <a:p>
            <a:pPr marL="0" indent="0" algn="l">
              <a:lnSpc>
                <a:spcPts val="2400"/>
              </a:lnSpc>
              <a:buNone/>
            </a:pPr>
            <a:r>
              <a:rPr lang="en-US" sz="1500" dirty="0">
                <a:solidFill>
                  <a:srgbClr val="DAD8E9"/>
                </a:solidFill>
                <a:latin typeface="Mukta Light" pitchFamily="34" charset="0"/>
                <a:ea typeface="Mukta Light" pitchFamily="34" charset="-122"/>
                <a:cs typeface="Mukta Light" pitchFamily="34" charset="-120"/>
              </a:rPr>
              <a:t>Intenta escribir el código antes de ver la solución. ¡Es la mejor forma de aprender!</a:t>
            </a:r>
            <a:endParaRPr lang="en-US" sz="1500" dirty="0"/>
          </a:p>
        </p:txBody>
      </p:sp>
      <p:pic>
        <p:nvPicPr>
          <p:cNvPr id="17" name="Imagen 16">
            <a:extLst>
              <a:ext uri="{FF2B5EF4-FFF2-40B4-BE49-F238E27FC236}">
                <a16:creationId xmlns:a16="http://schemas.microsoft.com/office/drawing/2014/main" id="{178691A2-917E-61FB-FD5C-3C3A802760EE}"/>
              </a:ext>
            </a:extLst>
          </p:cNvPr>
          <p:cNvPicPr>
            <a:picLocks noChangeAspect="1"/>
          </p:cNvPicPr>
          <p:nvPr/>
        </p:nvPicPr>
        <p:blipFill>
          <a:blip r:embed="rId4"/>
          <a:stretch>
            <a:fillRect/>
          </a:stretch>
        </p:blipFill>
        <p:spPr>
          <a:xfrm>
            <a:off x="11112500" y="7353300"/>
            <a:ext cx="3517900" cy="8763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844421" y="517446"/>
            <a:ext cx="2941558" cy="240268"/>
          </a:xfrm>
          <a:prstGeom prst="rect">
            <a:avLst/>
          </a:prstGeom>
          <a:noFill/>
          <a:ln/>
        </p:spPr>
        <p:txBody>
          <a:bodyPr wrap="none" lIns="0" tIns="0" rIns="0" bIns="0" rtlCol="0" anchor="t"/>
          <a:lstStyle/>
          <a:p>
            <a:pPr marL="0" indent="0" algn="ctr">
              <a:lnSpc>
                <a:spcPts val="1850"/>
              </a:lnSpc>
              <a:buNone/>
            </a:pPr>
            <a:r>
              <a:rPr lang="en-US" sz="1500" dirty="0">
                <a:solidFill>
                  <a:srgbClr val="C6BFEE"/>
                </a:solidFill>
                <a:latin typeface="Prompt Medium" pitchFamily="34" charset="0"/>
                <a:ea typeface="Prompt Medium" pitchFamily="34" charset="-122"/>
                <a:cs typeface="Prompt Medium" pitchFamily="34" charset="-120"/>
              </a:rPr>
              <a:t>Conclusiones y Próximos Pasos</a:t>
            </a:r>
            <a:endParaRPr lang="en-US" sz="1500" dirty="0"/>
          </a:p>
        </p:txBody>
      </p:sp>
      <p:sp>
        <p:nvSpPr>
          <p:cNvPr id="3" name="Text 1"/>
          <p:cNvSpPr/>
          <p:nvPr/>
        </p:nvSpPr>
        <p:spPr>
          <a:xfrm>
            <a:off x="692229" y="930712"/>
            <a:ext cx="3272909" cy="384572"/>
          </a:xfrm>
          <a:prstGeom prst="rect">
            <a:avLst/>
          </a:prstGeom>
          <a:noFill/>
          <a:ln/>
        </p:spPr>
        <p:txBody>
          <a:bodyPr wrap="none" lIns="0" tIns="0" rIns="0" bIns="0" rtlCol="0" anchor="t"/>
          <a:lstStyle/>
          <a:p>
            <a:pPr marL="0" indent="0" algn="l">
              <a:lnSpc>
                <a:spcPts val="3000"/>
              </a:lnSpc>
              <a:buNone/>
            </a:pPr>
            <a:r>
              <a:rPr lang="en-US" sz="2400" dirty="0">
                <a:solidFill>
                  <a:srgbClr val="C6BFEE"/>
                </a:solidFill>
                <a:latin typeface="Prompt Medium" pitchFamily="34" charset="0"/>
                <a:ea typeface="Prompt Medium" pitchFamily="34" charset="-122"/>
                <a:cs typeface="Prompt Medium" pitchFamily="34" charset="-120"/>
              </a:rPr>
              <a:t>Resumen y Preguntas</a:t>
            </a:r>
            <a:endParaRPr lang="en-US" sz="2400" dirty="0"/>
          </a:p>
        </p:txBody>
      </p:sp>
      <p:sp>
        <p:nvSpPr>
          <p:cNvPr id="4" name="Text 2"/>
          <p:cNvSpPr/>
          <p:nvPr/>
        </p:nvSpPr>
        <p:spPr>
          <a:xfrm>
            <a:off x="692229" y="1574840"/>
            <a:ext cx="13245941" cy="276939"/>
          </a:xfrm>
          <a:prstGeom prst="rect">
            <a:avLst/>
          </a:prstGeom>
          <a:noFill/>
          <a:ln/>
        </p:spPr>
        <p:txBody>
          <a:bodyPr wrap="none" lIns="0" tIns="0" rIns="0" bIns="0" rtlCol="0" anchor="t"/>
          <a:lstStyle/>
          <a:p>
            <a:pPr marL="0" indent="0" algn="l">
              <a:lnSpc>
                <a:spcPts val="2150"/>
              </a:lnSpc>
              <a:buNone/>
            </a:pPr>
            <a:r>
              <a:rPr lang="en-US" sz="1350" dirty="0">
                <a:solidFill>
                  <a:srgbClr val="DAD8E9"/>
                </a:solidFill>
                <a:latin typeface="Mukta Light" pitchFamily="34" charset="0"/>
                <a:ea typeface="Mukta Light" pitchFamily="34" charset="-122"/>
                <a:cs typeface="Mukta Light" pitchFamily="34" charset="-120"/>
              </a:rPr>
              <a:t>Hemos cubierto los fundamentos de los dos algoritmos de búsqueda más importantes: Lineal y Binaria. Aquí los puntos clave que debes recordar:</a:t>
            </a:r>
            <a:endParaRPr lang="en-US" sz="1350" dirty="0"/>
          </a:p>
        </p:txBody>
      </p:sp>
      <p:sp>
        <p:nvSpPr>
          <p:cNvPr id="5" name="Shape 3"/>
          <p:cNvSpPr/>
          <p:nvPr/>
        </p:nvSpPr>
        <p:spPr>
          <a:xfrm>
            <a:off x="692229" y="2046446"/>
            <a:ext cx="4299942" cy="519113"/>
          </a:xfrm>
          <a:prstGeom prst="roundRect">
            <a:avLst>
              <a:gd name="adj" fmla="val 480070"/>
            </a:avLst>
          </a:prstGeom>
          <a:solidFill>
            <a:srgbClr val="542C49"/>
          </a:solidFill>
          <a:ln w="7620">
            <a:solidFill>
              <a:srgbClr val="6D4562"/>
            </a:solidFill>
            <a:prstDash val="solid"/>
          </a:ln>
        </p:spPr>
      </p:sp>
      <p:sp>
        <p:nvSpPr>
          <p:cNvPr id="6" name="Text 4"/>
          <p:cNvSpPr/>
          <p:nvPr/>
        </p:nvSpPr>
        <p:spPr>
          <a:xfrm>
            <a:off x="2712363" y="2143720"/>
            <a:ext cx="259556" cy="324445"/>
          </a:xfrm>
          <a:prstGeom prst="rect">
            <a:avLst/>
          </a:prstGeom>
          <a:noFill/>
          <a:ln/>
        </p:spPr>
        <p:txBody>
          <a:bodyPr wrap="none" lIns="0" tIns="0" rIns="0" bIns="0" rtlCol="0" anchor="t"/>
          <a:lstStyle/>
          <a:p>
            <a:pPr marL="0" indent="0" algn="l">
              <a:lnSpc>
                <a:spcPts val="2000"/>
              </a:lnSpc>
              <a:buNone/>
            </a:pPr>
            <a:r>
              <a:rPr lang="en-US" sz="2000" dirty="0">
                <a:solidFill>
                  <a:srgbClr val="DAD8E9"/>
                </a:solidFill>
                <a:latin typeface="Prompt Medium" pitchFamily="34" charset="0"/>
                <a:ea typeface="Prompt Medium" pitchFamily="34" charset="-122"/>
                <a:cs typeface="Prompt Medium" pitchFamily="34" charset="-120"/>
              </a:rPr>
              <a:t>1</a:t>
            </a:r>
            <a:endParaRPr lang="en-US" sz="2000" dirty="0"/>
          </a:p>
        </p:txBody>
      </p:sp>
      <p:sp>
        <p:nvSpPr>
          <p:cNvPr id="7" name="Text 5"/>
          <p:cNvSpPr/>
          <p:nvPr/>
        </p:nvSpPr>
        <p:spPr>
          <a:xfrm>
            <a:off x="865227" y="2738557"/>
            <a:ext cx="2253734" cy="240268"/>
          </a:xfrm>
          <a:prstGeom prst="rect">
            <a:avLst/>
          </a:prstGeom>
          <a:noFill/>
          <a:ln/>
        </p:spPr>
        <p:txBody>
          <a:bodyPr wrap="none" lIns="0" tIns="0" rIns="0" bIns="0" rtlCol="0" anchor="t"/>
          <a:lstStyle/>
          <a:p>
            <a:pPr marL="0" indent="0" algn="l">
              <a:lnSpc>
                <a:spcPts val="1850"/>
              </a:lnSpc>
              <a:buNone/>
            </a:pPr>
            <a:r>
              <a:rPr lang="en-US" sz="1500" dirty="0">
                <a:solidFill>
                  <a:srgbClr val="DAD8E9"/>
                </a:solidFill>
                <a:latin typeface="Prompt Medium" pitchFamily="34" charset="0"/>
                <a:ea typeface="Prompt Medium" pitchFamily="34" charset="-122"/>
                <a:cs typeface="Prompt Medium" pitchFamily="34" charset="-120"/>
              </a:rPr>
              <a:t>Lineal: Simple y Flexible</a:t>
            </a:r>
            <a:endParaRPr lang="en-US" sz="1500" dirty="0"/>
          </a:p>
        </p:txBody>
      </p:sp>
      <p:sp>
        <p:nvSpPr>
          <p:cNvPr id="8" name="Text 6"/>
          <p:cNvSpPr/>
          <p:nvPr/>
        </p:nvSpPr>
        <p:spPr>
          <a:xfrm>
            <a:off x="865227" y="3082647"/>
            <a:ext cx="3953947" cy="553879"/>
          </a:xfrm>
          <a:prstGeom prst="rect">
            <a:avLst/>
          </a:prstGeom>
          <a:noFill/>
          <a:ln/>
        </p:spPr>
        <p:txBody>
          <a:bodyPr wrap="square" lIns="0" tIns="0" rIns="0" bIns="0" rtlCol="0" anchor="t"/>
          <a:lstStyle/>
          <a:p>
            <a:pPr marL="0" indent="0" algn="l">
              <a:lnSpc>
                <a:spcPts val="2150"/>
              </a:lnSpc>
              <a:buNone/>
            </a:pPr>
            <a:r>
              <a:rPr lang="en-US" sz="1350" dirty="0">
                <a:solidFill>
                  <a:srgbClr val="DAD8E9"/>
                </a:solidFill>
                <a:latin typeface="Mukta Light" pitchFamily="34" charset="0"/>
                <a:ea typeface="Mukta Light" pitchFamily="34" charset="-122"/>
                <a:cs typeface="Mukta Light" pitchFamily="34" charset="-120"/>
              </a:rPr>
              <a:t>Ideal para </a:t>
            </a:r>
            <a:r>
              <a:rPr lang="en-US" sz="1350" b="1" dirty="0">
                <a:solidFill>
                  <a:srgbClr val="DAD8E9"/>
                </a:solidFill>
                <a:latin typeface="Mukta Light" pitchFamily="34" charset="0"/>
                <a:ea typeface="Mukta Light" pitchFamily="34" charset="-122"/>
                <a:cs typeface="Mukta Light" pitchFamily="34" charset="-120"/>
              </a:rPr>
              <a:t>listas no ordenadas</a:t>
            </a:r>
            <a:r>
              <a:rPr lang="en-US" sz="1350" dirty="0">
                <a:solidFill>
                  <a:srgbClr val="DAD8E9"/>
                </a:solidFill>
                <a:latin typeface="Mukta Light" pitchFamily="34" charset="0"/>
                <a:ea typeface="Mukta Light" pitchFamily="34" charset="-122"/>
                <a:cs typeface="Mukta Light" pitchFamily="34" charset="-120"/>
              </a:rPr>
              <a:t> o </a:t>
            </a:r>
            <a:r>
              <a:rPr lang="en-US" sz="1350" b="1" dirty="0">
                <a:solidFill>
                  <a:srgbClr val="DAD8E9"/>
                </a:solidFill>
                <a:latin typeface="Mukta Light" pitchFamily="34" charset="0"/>
                <a:ea typeface="Mukta Light" pitchFamily="34" charset="-122"/>
                <a:cs typeface="Mukta Light" pitchFamily="34" charset="-120"/>
              </a:rPr>
              <a:t>pequeñas</a:t>
            </a:r>
            <a:r>
              <a:rPr lang="en-US" sz="1350" dirty="0">
                <a:solidFill>
                  <a:srgbClr val="DAD8E9"/>
                </a:solidFill>
                <a:latin typeface="Mukta Light" pitchFamily="34" charset="0"/>
                <a:ea typeface="Mukta Light" pitchFamily="34" charset="-122"/>
                <a:cs typeface="Mukta Light" pitchFamily="34" charset="-120"/>
              </a:rPr>
              <a:t>. Recorre elemento a elemento. Más lento (O(n)).</a:t>
            </a:r>
            <a:endParaRPr lang="en-US" sz="1350" dirty="0"/>
          </a:p>
        </p:txBody>
      </p:sp>
      <p:sp>
        <p:nvSpPr>
          <p:cNvPr id="9" name="Shape 7"/>
          <p:cNvSpPr/>
          <p:nvPr/>
        </p:nvSpPr>
        <p:spPr>
          <a:xfrm>
            <a:off x="5165169" y="2046446"/>
            <a:ext cx="4299942" cy="519113"/>
          </a:xfrm>
          <a:prstGeom prst="roundRect">
            <a:avLst>
              <a:gd name="adj" fmla="val 480070"/>
            </a:avLst>
          </a:prstGeom>
          <a:solidFill>
            <a:srgbClr val="542C49"/>
          </a:solidFill>
          <a:ln w="7620">
            <a:solidFill>
              <a:srgbClr val="6D4562"/>
            </a:solidFill>
            <a:prstDash val="solid"/>
          </a:ln>
        </p:spPr>
      </p:sp>
      <p:sp>
        <p:nvSpPr>
          <p:cNvPr id="10" name="Text 8"/>
          <p:cNvSpPr/>
          <p:nvPr/>
        </p:nvSpPr>
        <p:spPr>
          <a:xfrm>
            <a:off x="7185303" y="2143720"/>
            <a:ext cx="259556" cy="324445"/>
          </a:xfrm>
          <a:prstGeom prst="rect">
            <a:avLst/>
          </a:prstGeom>
          <a:noFill/>
          <a:ln/>
        </p:spPr>
        <p:txBody>
          <a:bodyPr wrap="none" lIns="0" tIns="0" rIns="0" bIns="0" rtlCol="0" anchor="t"/>
          <a:lstStyle/>
          <a:p>
            <a:pPr marL="0" indent="0" algn="l">
              <a:lnSpc>
                <a:spcPts val="2000"/>
              </a:lnSpc>
              <a:buNone/>
            </a:pPr>
            <a:r>
              <a:rPr lang="en-US" sz="2000" dirty="0">
                <a:solidFill>
                  <a:srgbClr val="DAD8E9"/>
                </a:solidFill>
                <a:latin typeface="Prompt Medium" pitchFamily="34" charset="0"/>
                <a:ea typeface="Prompt Medium" pitchFamily="34" charset="-122"/>
                <a:cs typeface="Prompt Medium" pitchFamily="34" charset="-120"/>
              </a:rPr>
              <a:t>2</a:t>
            </a:r>
            <a:endParaRPr lang="en-US" sz="2000" dirty="0"/>
          </a:p>
        </p:txBody>
      </p:sp>
      <p:sp>
        <p:nvSpPr>
          <p:cNvPr id="11" name="Text 9"/>
          <p:cNvSpPr/>
          <p:nvPr/>
        </p:nvSpPr>
        <p:spPr>
          <a:xfrm>
            <a:off x="5338167" y="2738557"/>
            <a:ext cx="2514719" cy="240268"/>
          </a:xfrm>
          <a:prstGeom prst="rect">
            <a:avLst/>
          </a:prstGeom>
          <a:noFill/>
          <a:ln/>
        </p:spPr>
        <p:txBody>
          <a:bodyPr wrap="none" lIns="0" tIns="0" rIns="0" bIns="0" rtlCol="0" anchor="t"/>
          <a:lstStyle/>
          <a:p>
            <a:pPr marL="0" indent="0" algn="l">
              <a:lnSpc>
                <a:spcPts val="1850"/>
              </a:lnSpc>
              <a:buNone/>
            </a:pPr>
            <a:r>
              <a:rPr lang="en-US" sz="1500" dirty="0">
                <a:solidFill>
                  <a:srgbClr val="DAD8E9"/>
                </a:solidFill>
                <a:latin typeface="Prompt Medium" pitchFamily="34" charset="0"/>
                <a:ea typeface="Prompt Medium" pitchFamily="34" charset="-122"/>
                <a:cs typeface="Prompt Medium" pitchFamily="34" charset="-120"/>
              </a:rPr>
              <a:t>Binaria: Rápida y Requisito</a:t>
            </a:r>
            <a:endParaRPr lang="en-US" sz="1500" dirty="0"/>
          </a:p>
        </p:txBody>
      </p:sp>
      <p:sp>
        <p:nvSpPr>
          <p:cNvPr id="12" name="Text 10"/>
          <p:cNvSpPr/>
          <p:nvPr/>
        </p:nvSpPr>
        <p:spPr>
          <a:xfrm>
            <a:off x="5338167" y="3082647"/>
            <a:ext cx="3953947" cy="553879"/>
          </a:xfrm>
          <a:prstGeom prst="rect">
            <a:avLst/>
          </a:prstGeom>
          <a:noFill/>
          <a:ln/>
        </p:spPr>
        <p:txBody>
          <a:bodyPr wrap="square" lIns="0" tIns="0" rIns="0" bIns="0" rtlCol="0" anchor="t"/>
          <a:lstStyle/>
          <a:p>
            <a:pPr marL="0" indent="0" algn="l">
              <a:lnSpc>
                <a:spcPts val="2150"/>
              </a:lnSpc>
              <a:buNone/>
            </a:pPr>
            <a:r>
              <a:rPr lang="en-US" sz="1350" dirty="0">
                <a:solidFill>
                  <a:srgbClr val="DAD8E9"/>
                </a:solidFill>
                <a:latin typeface="Mukta Light" pitchFamily="34" charset="0"/>
                <a:ea typeface="Mukta Light" pitchFamily="34" charset="-122"/>
                <a:cs typeface="Mukta Light" pitchFamily="34" charset="-120"/>
              </a:rPr>
              <a:t>Extremadamente </a:t>
            </a:r>
            <a:r>
              <a:rPr lang="en-US" sz="1350" b="1" dirty="0">
                <a:solidFill>
                  <a:srgbClr val="DAD8E9"/>
                </a:solidFill>
                <a:latin typeface="Mukta Light" pitchFamily="34" charset="0"/>
                <a:ea typeface="Mukta Light" pitchFamily="34" charset="-122"/>
                <a:cs typeface="Mukta Light" pitchFamily="34" charset="-120"/>
              </a:rPr>
              <a:t>rápida</a:t>
            </a:r>
            <a:r>
              <a:rPr lang="en-US" sz="1350" dirty="0">
                <a:solidFill>
                  <a:srgbClr val="DAD8E9"/>
                </a:solidFill>
                <a:latin typeface="Mukta Light" pitchFamily="34" charset="0"/>
                <a:ea typeface="Mukta Light" pitchFamily="34" charset="-122"/>
                <a:cs typeface="Mukta Light" pitchFamily="34" charset="-120"/>
              </a:rPr>
              <a:t> (O(log n)), pero </a:t>
            </a:r>
            <a:r>
              <a:rPr lang="en-US" sz="1350" b="1" dirty="0">
                <a:solidFill>
                  <a:srgbClr val="DAD8E9"/>
                </a:solidFill>
                <a:latin typeface="Mukta Light" pitchFamily="34" charset="0"/>
                <a:ea typeface="Mukta Light" pitchFamily="34" charset="-122"/>
                <a:cs typeface="Mukta Light" pitchFamily="34" charset="-120"/>
              </a:rPr>
              <a:t>requiere lista ordenada</a:t>
            </a:r>
            <a:r>
              <a:rPr lang="en-US" sz="1350" dirty="0">
                <a:solidFill>
                  <a:srgbClr val="DAD8E9"/>
                </a:solidFill>
                <a:latin typeface="Mukta Light" pitchFamily="34" charset="0"/>
                <a:ea typeface="Mukta Light" pitchFamily="34" charset="-122"/>
                <a:cs typeface="Mukta Light" pitchFamily="34" charset="-120"/>
              </a:rPr>
              <a:t>. Divide y conquista.</a:t>
            </a:r>
            <a:endParaRPr lang="en-US" sz="1350" dirty="0"/>
          </a:p>
        </p:txBody>
      </p:sp>
      <p:sp>
        <p:nvSpPr>
          <p:cNvPr id="13" name="Shape 11"/>
          <p:cNvSpPr/>
          <p:nvPr/>
        </p:nvSpPr>
        <p:spPr>
          <a:xfrm>
            <a:off x="9638109" y="2046446"/>
            <a:ext cx="4299942" cy="519113"/>
          </a:xfrm>
          <a:prstGeom prst="roundRect">
            <a:avLst>
              <a:gd name="adj" fmla="val 480070"/>
            </a:avLst>
          </a:prstGeom>
          <a:solidFill>
            <a:srgbClr val="542C49"/>
          </a:solidFill>
          <a:ln w="7620">
            <a:solidFill>
              <a:srgbClr val="6D4562"/>
            </a:solidFill>
            <a:prstDash val="solid"/>
          </a:ln>
        </p:spPr>
      </p:sp>
      <p:sp>
        <p:nvSpPr>
          <p:cNvPr id="14" name="Text 12"/>
          <p:cNvSpPr/>
          <p:nvPr/>
        </p:nvSpPr>
        <p:spPr>
          <a:xfrm>
            <a:off x="11658243" y="2143720"/>
            <a:ext cx="259556" cy="324445"/>
          </a:xfrm>
          <a:prstGeom prst="rect">
            <a:avLst/>
          </a:prstGeom>
          <a:noFill/>
          <a:ln/>
        </p:spPr>
        <p:txBody>
          <a:bodyPr wrap="none" lIns="0" tIns="0" rIns="0" bIns="0" rtlCol="0" anchor="t"/>
          <a:lstStyle/>
          <a:p>
            <a:pPr marL="0" indent="0" algn="l">
              <a:lnSpc>
                <a:spcPts val="2000"/>
              </a:lnSpc>
              <a:buNone/>
            </a:pPr>
            <a:r>
              <a:rPr lang="en-US" sz="2000" dirty="0">
                <a:solidFill>
                  <a:srgbClr val="DAD8E9"/>
                </a:solidFill>
                <a:latin typeface="Prompt Medium" pitchFamily="34" charset="0"/>
                <a:ea typeface="Prompt Medium" pitchFamily="34" charset="-122"/>
                <a:cs typeface="Prompt Medium" pitchFamily="34" charset="-120"/>
              </a:rPr>
              <a:t>3</a:t>
            </a:r>
            <a:endParaRPr lang="en-US" sz="2000" dirty="0"/>
          </a:p>
        </p:txBody>
      </p:sp>
      <p:sp>
        <p:nvSpPr>
          <p:cNvPr id="15" name="Text 13"/>
          <p:cNvSpPr/>
          <p:nvPr/>
        </p:nvSpPr>
        <p:spPr>
          <a:xfrm>
            <a:off x="9811107" y="2738557"/>
            <a:ext cx="1922859" cy="240268"/>
          </a:xfrm>
          <a:prstGeom prst="rect">
            <a:avLst/>
          </a:prstGeom>
          <a:noFill/>
          <a:ln/>
        </p:spPr>
        <p:txBody>
          <a:bodyPr wrap="none" lIns="0" tIns="0" rIns="0" bIns="0" rtlCol="0" anchor="t"/>
          <a:lstStyle/>
          <a:p>
            <a:pPr marL="0" indent="0" algn="l">
              <a:lnSpc>
                <a:spcPts val="1850"/>
              </a:lnSpc>
              <a:buNone/>
            </a:pPr>
            <a:r>
              <a:rPr lang="en-US" sz="1500" dirty="0">
                <a:solidFill>
                  <a:srgbClr val="DAD8E9"/>
                </a:solidFill>
                <a:latin typeface="Prompt Medium" pitchFamily="34" charset="0"/>
                <a:ea typeface="Prompt Medium" pitchFamily="34" charset="-122"/>
                <a:cs typeface="Prompt Medium" pitchFamily="34" charset="-120"/>
              </a:rPr>
              <a:t>Eficiencia es Clave</a:t>
            </a:r>
            <a:endParaRPr lang="en-US" sz="1500" dirty="0"/>
          </a:p>
        </p:txBody>
      </p:sp>
      <p:sp>
        <p:nvSpPr>
          <p:cNvPr id="16" name="Text 14"/>
          <p:cNvSpPr/>
          <p:nvPr/>
        </p:nvSpPr>
        <p:spPr>
          <a:xfrm>
            <a:off x="9811107" y="3082647"/>
            <a:ext cx="3953947" cy="830818"/>
          </a:xfrm>
          <a:prstGeom prst="rect">
            <a:avLst/>
          </a:prstGeom>
          <a:noFill/>
          <a:ln/>
        </p:spPr>
        <p:txBody>
          <a:bodyPr wrap="square" lIns="0" tIns="0" rIns="0" bIns="0" rtlCol="0" anchor="t"/>
          <a:lstStyle/>
          <a:p>
            <a:pPr marL="0" indent="0" algn="l">
              <a:lnSpc>
                <a:spcPts val="2150"/>
              </a:lnSpc>
              <a:buNone/>
            </a:pPr>
            <a:r>
              <a:rPr lang="en-US" sz="1350" dirty="0">
                <a:solidFill>
                  <a:srgbClr val="DAD8E9"/>
                </a:solidFill>
                <a:latin typeface="Mukta Light" pitchFamily="34" charset="0"/>
                <a:ea typeface="Mukta Light" pitchFamily="34" charset="-122"/>
                <a:cs typeface="Mukta Light" pitchFamily="34" charset="-120"/>
              </a:rPr>
              <a:t>La elección del algoritmo impacta directamente el </a:t>
            </a:r>
            <a:r>
              <a:rPr lang="en-US" sz="1350" b="1" dirty="0">
                <a:solidFill>
                  <a:srgbClr val="DAD8E9"/>
                </a:solidFill>
                <a:latin typeface="Mukta Light" pitchFamily="34" charset="0"/>
                <a:ea typeface="Mukta Light" pitchFamily="34" charset="-122"/>
                <a:cs typeface="Mukta Light" pitchFamily="34" charset="-120"/>
              </a:rPr>
              <a:t>rendimiento</a:t>
            </a:r>
            <a:r>
              <a:rPr lang="en-US" sz="1350" dirty="0">
                <a:solidFill>
                  <a:srgbClr val="DAD8E9"/>
                </a:solidFill>
                <a:latin typeface="Mukta Light" pitchFamily="34" charset="0"/>
                <a:ea typeface="Mukta Light" pitchFamily="34" charset="-122"/>
                <a:cs typeface="Mukta Light" pitchFamily="34" charset="-120"/>
              </a:rPr>
              <a:t> de tu programa, especialmente con muchos datos.</a:t>
            </a:r>
            <a:endParaRPr lang="en-US" sz="1350" dirty="0"/>
          </a:p>
        </p:txBody>
      </p:sp>
      <p:sp>
        <p:nvSpPr>
          <p:cNvPr id="17" name="Shape 15"/>
          <p:cNvSpPr/>
          <p:nvPr/>
        </p:nvSpPr>
        <p:spPr>
          <a:xfrm>
            <a:off x="692229" y="4367616"/>
            <a:ext cx="13245941" cy="29170"/>
          </a:xfrm>
          <a:prstGeom prst="rect">
            <a:avLst/>
          </a:prstGeom>
          <a:solidFill>
            <a:srgbClr val="DAD8E9">
              <a:alpha val="50000"/>
            </a:srgbClr>
          </a:solidFill>
          <a:ln/>
        </p:spPr>
      </p:sp>
      <p:sp>
        <p:nvSpPr>
          <p:cNvPr id="18" name="Text 16"/>
          <p:cNvSpPr/>
          <p:nvPr/>
        </p:nvSpPr>
        <p:spPr>
          <a:xfrm>
            <a:off x="692229" y="4656296"/>
            <a:ext cx="3752017" cy="288369"/>
          </a:xfrm>
          <a:prstGeom prst="rect">
            <a:avLst/>
          </a:prstGeom>
          <a:noFill/>
          <a:ln/>
        </p:spPr>
        <p:txBody>
          <a:bodyPr wrap="none" lIns="0" tIns="0" rIns="0" bIns="0" rtlCol="0" anchor="t"/>
          <a:lstStyle/>
          <a:p>
            <a:pPr marL="0" indent="0" algn="l">
              <a:lnSpc>
                <a:spcPts val="2250"/>
              </a:lnSpc>
              <a:buNone/>
            </a:pPr>
            <a:r>
              <a:rPr lang="en-US" sz="1800" dirty="0">
                <a:solidFill>
                  <a:srgbClr val="C6BFEE"/>
                </a:solidFill>
                <a:latin typeface="Prompt Medium" pitchFamily="34" charset="0"/>
                <a:ea typeface="Prompt Medium" pitchFamily="34" charset="-122"/>
                <a:cs typeface="Prompt Medium" pitchFamily="34" charset="-120"/>
              </a:rPr>
              <a:t>¿Cuándo usarías cada algoritmo?</a:t>
            </a:r>
            <a:endParaRPr lang="en-US" sz="1800" dirty="0"/>
          </a:p>
        </p:txBody>
      </p:sp>
      <p:sp>
        <p:nvSpPr>
          <p:cNvPr id="19" name="Text 17"/>
          <p:cNvSpPr/>
          <p:nvPr/>
        </p:nvSpPr>
        <p:spPr>
          <a:xfrm>
            <a:off x="692229" y="5204222"/>
            <a:ext cx="13245941" cy="276939"/>
          </a:xfrm>
          <a:prstGeom prst="rect">
            <a:avLst/>
          </a:prstGeom>
          <a:noFill/>
          <a:ln/>
        </p:spPr>
        <p:txBody>
          <a:bodyPr wrap="none" lIns="0" tIns="0" rIns="0" bIns="0" rtlCol="0" anchor="t"/>
          <a:lstStyle/>
          <a:p>
            <a:pPr marL="342900" indent="-342900" algn="l">
              <a:lnSpc>
                <a:spcPts val="2150"/>
              </a:lnSpc>
              <a:buSzPct val="100000"/>
              <a:buChar char="•"/>
            </a:pPr>
            <a:r>
              <a:rPr lang="en-US" sz="1350" b="1" dirty="0">
                <a:solidFill>
                  <a:srgbClr val="DAD8E9"/>
                </a:solidFill>
                <a:latin typeface="Mukta Light" pitchFamily="34" charset="0"/>
                <a:ea typeface="Mukta Light" pitchFamily="34" charset="-122"/>
                <a:cs typeface="Mukta Light" pitchFamily="34" charset="-120"/>
              </a:rPr>
              <a:t>Búsqueda Lineal:</a:t>
            </a:r>
            <a:r>
              <a:rPr lang="en-US" sz="1350" dirty="0">
                <a:solidFill>
                  <a:srgbClr val="DAD8E9"/>
                </a:solidFill>
                <a:latin typeface="Mukta Light" pitchFamily="34" charset="0"/>
                <a:ea typeface="Mukta Light" pitchFamily="34" charset="-122"/>
                <a:cs typeface="Mukta Light" pitchFamily="34" charset="-120"/>
              </a:rPr>
              <a:t> Cuando la lista es muy pequeña y el coste de ordenarla no compensa, o cuando los datos no pueden/deben ser ordenados.</a:t>
            </a:r>
            <a:endParaRPr lang="en-US" sz="1350" dirty="0"/>
          </a:p>
        </p:txBody>
      </p:sp>
      <p:sp>
        <p:nvSpPr>
          <p:cNvPr id="20" name="Text 18"/>
          <p:cNvSpPr/>
          <p:nvPr/>
        </p:nvSpPr>
        <p:spPr>
          <a:xfrm>
            <a:off x="692229" y="5541645"/>
            <a:ext cx="13245941" cy="276939"/>
          </a:xfrm>
          <a:prstGeom prst="rect">
            <a:avLst/>
          </a:prstGeom>
          <a:noFill/>
          <a:ln/>
        </p:spPr>
        <p:txBody>
          <a:bodyPr wrap="none" lIns="0" tIns="0" rIns="0" bIns="0" rtlCol="0" anchor="t"/>
          <a:lstStyle/>
          <a:p>
            <a:pPr marL="342900" indent="-342900" algn="l">
              <a:lnSpc>
                <a:spcPts val="2150"/>
              </a:lnSpc>
              <a:buSzPct val="100000"/>
              <a:buChar char="•"/>
            </a:pPr>
            <a:r>
              <a:rPr lang="en-US" sz="1350" b="1" dirty="0">
                <a:solidFill>
                  <a:srgbClr val="DAD8E9"/>
                </a:solidFill>
                <a:latin typeface="Mukta Light" pitchFamily="34" charset="0"/>
                <a:ea typeface="Mukta Light" pitchFamily="34" charset="-122"/>
                <a:cs typeface="Mukta Light" pitchFamily="34" charset="-120"/>
              </a:rPr>
              <a:t>Búsqueda Binaria:</a:t>
            </a:r>
            <a:r>
              <a:rPr lang="en-US" sz="1350" dirty="0">
                <a:solidFill>
                  <a:srgbClr val="DAD8E9"/>
                </a:solidFill>
                <a:latin typeface="Mukta Light" pitchFamily="34" charset="0"/>
                <a:ea typeface="Mukta Light" pitchFamily="34" charset="-122"/>
                <a:cs typeface="Mukta Light" pitchFamily="34" charset="-120"/>
              </a:rPr>
              <a:t> Cuando trabajas con grandes volúmenes de datos que ya están ordenados o que pueden ser ordenados una sola vez para múltiples búsquedas.</a:t>
            </a:r>
            <a:endParaRPr lang="en-US" sz="1350" dirty="0"/>
          </a:p>
        </p:txBody>
      </p:sp>
      <p:sp>
        <p:nvSpPr>
          <p:cNvPr id="21" name="Text 19"/>
          <p:cNvSpPr/>
          <p:nvPr/>
        </p:nvSpPr>
        <p:spPr>
          <a:xfrm>
            <a:off x="692229" y="6078141"/>
            <a:ext cx="3287078" cy="288369"/>
          </a:xfrm>
          <a:prstGeom prst="rect">
            <a:avLst/>
          </a:prstGeom>
          <a:noFill/>
          <a:ln/>
        </p:spPr>
        <p:txBody>
          <a:bodyPr wrap="none" lIns="0" tIns="0" rIns="0" bIns="0" rtlCol="0" anchor="t"/>
          <a:lstStyle/>
          <a:p>
            <a:pPr marL="0" indent="0" algn="l">
              <a:lnSpc>
                <a:spcPts val="2250"/>
              </a:lnSpc>
              <a:buNone/>
            </a:pPr>
            <a:r>
              <a:rPr lang="en-US" sz="1800" dirty="0">
                <a:solidFill>
                  <a:srgbClr val="C6BFEE"/>
                </a:solidFill>
                <a:latin typeface="Prompt Medium" pitchFamily="34" charset="0"/>
                <a:ea typeface="Prompt Medium" pitchFamily="34" charset="-122"/>
                <a:cs typeface="Prompt Medium" pitchFamily="34" charset="-120"/>
              </a:rPr>
              <a:t>Consideraciones Adicionales:</a:t>
            </a:r>
            <a:endParaRPr lang="en-US" sz="1800" dirty="0"/>
          </a:p>
        </p:txBody>
      </p:sp>
      <p:sp>
        <p:nvSpPr>
          <p:cNvPr id="22" name="Text 20"/>
          <p:cNvSpPr/>
          <p:nvPr/>
        </p:nvSpPr>
        <p:spPr>
          <a:xfrm>
            <a:off x="692229" y="6626066"/>
            <a:ext cx="13245941" cy="276939"/>
          </a:xfrm>
          <a:prstGeom prst="rect">
            <a:avLst/>
          </a:prstGeom>
          <a:noFill/>
          <a:ln/>
        </p:spPr>
        <p:txBody>
          <a:bodyPr wrap="none" lIns="0" tIns="0" rIns="0" bIns="0" rtlCol="0" anchor="t"/>
          <a:lstStyle/>
          <a:p>
            <a:pPr marL="342900" indent="-342900" algn="l">
              <a:lnSpc>
                <a:spcPts val="2150"/>
              </a:lnSpc>
              <a:buSzPct val="100000"/>
              <a:buChar char="•"/>
            </a:pPr>
            <a:r>
              <a:rPr lang="en-US" sz="1350" dirty="0">
                <a:solidFill>
                  <a:srgbClr val="DAD8E9"/>
                </a:solidFill>
                <a:latin typeface="Mukta Light" pitchFamily="34" charset="0"/>
                <a:ea typeface="Mukta Light" pitchFamily="34" charset="-122"/>
                <a:cs typeface="Mukta Light" pitchFamily="34" charset="-120"/>
              </a:rPr>
              <a:t>El coste de </a:t>
            </a:r>
            <a:r>
              <a:rPr lang="en-US" sz="1350" b="1" dirty="0">
                <a:solidFill>
                  <a:srgbClr val="DAD8E9"/>
                </a:solidFill>
                <a:latin typeface="Mukta Light" pitchFamily="34" charset="0"/>
                <a:ea typeface="Mukta Light" pitchFamily="34" charset="-122"/>
                <a:cs typeface="Mukta Light" pitchFamily="34" charset="-120"/>
              </a:rPr>
              <a:t>ordenar una lista</a:t>
            </a:r>
            <a:r>
              <a:rPr lang="en-US" sz="1350" dirty="0">
                <a:solidFill>
                  <a:srgbClr val="DAD8E9"/>
                </a:solidFill>
                <a:latin typeface="Mukta Light" pitchFamily="34" charset="0"/>
                <a:ea typeface="Mukta Light" pitchFamily="34" charset="-122"/>
                <a:cs typeface="Mukta Light" pitchFamily="34" charset="-120"/>
              </a:rPr>
              <a:t> puede ser significativo (e.g., O(n log n) para muchos algoritmos de ordenación). Evalúa si ese coste se justifica.</a:t>
            </a:r>
            <a:endParaRPr lang="en-US" sz="1350" dirty="0"/>
          </a:p>
        </p:txBody>
      </p:sp>
      <p:sp>
        <p:nvSpPr>
          <p:cNvPr id="23" name="Text 21"/>
          <p:cNvSpPr/>
          <p:nvPr/>
        </p:nvSpPr>
        <p:spPr>
          <a:xfrm>
            <a:off x="692229" y="6963489"/>
            <a:ext cx="13245941" cy="276939"/>
          </a:xfrm>
          <a:prstGeom prst="rect">
            <a:avLst/>
          </a:prstGeom>
          <a:noFill/>
          <a:ln/>
        </p:spPr>
        <p:txBody>
          <a:bodyPr wrap="none" lIns="0" tIns="0" rIns="0" bIns="0" rtlCol="0" anchor="t"/>
          <a:lstStyle/>
          <a:p>
            <a:pPr marL="342900" indent="-342900" algn="l">
              <a:lnSpc>
                <a:spcPts val="2150"/>
              </a:lnSpc>
              <a:buSzPct val="100000"/>
              <a:buChar char="•"/>
            </a:pPr>
            <a:r>
              <a:rPr lang="en-US" sz="1350" dirty="0">
                <a:solidFill>
                  <a:srgbClr val="DAD8E9"/>
                </a:solidFill>
                <a:latin typeface="Mukta Light" pitchFamily="34" charset="0"/>
                <a:ea typeface="Mukta Light" pitchFamily="34" charset="-122"/>
                <a:cs typeface="Mukta Light" pitchFamily="34" charset="-120"/>
              </a:rPr>
              <a:t>En la práctica, muchas estructuras de datos ya mantienen sus elementos ordenados (árboles binarios de búsqueda, bases de datos indexadas), haciendo la búsqueda binaria inherente.</a:t>
            </a:r>
            <a:endParaRPr lang="en-US" sz="1350" dirty="0"/>
          </a:p>
        </p:txBody>
      </p:sp>
      <p:sp>
        <p:nvSpPr>
          <p:cNvPr id="24" name="Text 22"/>
          <p:cNvSpPr/>
          <p:nvPr/>
        </p:nvSpPr>
        <p:spPr>
          <a:xfrm>
            <a:off x="692229" y="7435096"/>
            <a:ext cx="13245941" cy="276939"/>
          </a:xfrm>
          <a:prstGeom prst="rect">
            <a:avLst/>
          </a:prstGeom>
          <a:noFill/>
          <a:ln/>
        </p:spPr>
        <p:txBody>
          <a:bodyPr wrap="none" lIns="0" tIns="0" rIns="0" bIns="0" rtlCol="0" anchor="t"/>
          <a:lstStyle/>
          <a:p>
            <a:pPr marL="0" indent="0" algn="ctr">
              <a:lnSpc>
                <a:spcPts val="2150"/>
              </a:lnSpc>
              <a:buNone/>
            </a:pPr>
            <a:r>
              <a:rPr lang="en-US" sz="1350" dirty="0">
                <a:solidFill>
                  <a:srgbClr val="DAD8E9"/>
                </a:solidFill>
                <a:latin typeface="Mukta Light" pitchFamily="34" charset="0"/>
                <a:ea typeface="Mukta Light" pitchFamily="34" charset="-122"/>
                <a:cs typeface="Mukta Light" pitchFamily="34" charset="-120"/>
              </a:rPr>
              <a:t>¡Gracias por tu atención! ¿Alguna pregunta?</a:t>
            </a:r>
            <a:endParaRPr lang="en-US" sz="1350" dirty="0"/>
          </a:p>
        </p:txBody>
      </p:sp>
      <p:pic>
        <p:nvPicPr>
          <p:cNvPr id="25" name="Imagen 24">
            <a:extLst>
              <a:ext uri="{FF2B5EF4-FFF2-40B4-BE49-F238E27FC236}">
                <a16:creationId xmlns:a16="http://schemas.microsoft.com/office/drawing/2014/main" id="{2F0288C8-519D-5025-645E-ED9D7DC21EC9}"/>
              </a:ext>
            </a:extLst>
          </p:cNvPr>
          <p:cNvPicPr>
            <a:picLocks noChangeAspect="1"/>
          </p:cNvPicPr>
          <p:nvPr/>
        </p:nvPicPr>
        <p:blipFill>
          <a:blip r:embed="rId3"/>
          <a:stretch>
            <a:fillRect/>
          </a:stretch>
        </p:blipFill>
        <p:spPr>
          <a:xfrm>
            <a:off x="11112500" y="7353300"/>
            <a:ext cx="3517900" cy="8763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4DC5F-B421-4BC8-765F-456115CD8124}"/>
            </a:ext>
          </a:extLst>
        </p:cNvPr>
        <p:cNvGrpSpPr/>
        <p:nvPr/>
      </p:nvGrpSpPr>
      <p:grpSpPr>
        <a:xfrm>
          <a:off x="0" y="0"/>
          <a:ext cx="0" cy="0"/>
          <a:chOff x="0" y="0"/>
          <a:chExt cx="0" cy="0"/>
        </a:xfrm>
      </p:grpSpPr>
      <p:pic>
        <p:nvPicPr>
          <p:cNvPr id="25" name="Imagen 24">
            <a:extLst>
              <a:ext uri="{FF2B5EF4-FFF2-40B4-BE49-F238E27FC236}">
                <a16:creationId xmlns:a16="http://schemas.microsoft.com/office/drawing/2014/main" id="{DA92BCA7-5ADD-22A6-F1F8-B6B9BFFFAF6D}"/>
              </a:ext>
            </a:extLst>
          </p:cNvPr>
          <p:cNvPicPr>
            <a:picLocks noChangeAspect="1"/>
          </p:cNvPicPr>
          <p:nvPr/>
        </p:nvPicPr>
        <p:blipFill>
          <a:blip r:embed="rId3"/>
          <a:stretch>
            <a:fillRect/>
          </a:stretch>
        </p:blipFill>
        <p:spPr>
          <a:xfrm>
            <a:off x="11112500" y="7353300"/>
            <a:ext cx="3517900" cy="876300"/>
          </a:xfrm>
          <a:prstGeom prst="rect">
            <a:avLst/>
          </a:prstGeom>
        </p:spPr>
      </p:pic>
      <p:sp>
        <p:nvSpPr>
          <p:cNvPr id="26" name="Text 16">
            <a:extLst>
              <a:ext uri="{FF2B5EF4-FFF2-40B4-BE49-F238E27FC236}">
                <a16:creationId xmlns:a16="http://schemas.microsoft.com/office/drawing/2014/main" id="{641F7803-4F97-01E1-ECCC-76B8CC1A0509}"/>
              </a:ext>
            </a:extLst>
          </p:cNvPr>
          <p:cNvSpPr/>
          <p:nvPr/>
        </p:nvSpPr>
        <p:spPr>
          <a:xfrm>
            <a:off x="449774" y="229769"/>
            <a:ext cx="3752017" cy="288369"/>
          </a:xfrm>
          <a:prstGeom prst="rect">
            <a:avLst/>
          </a:prstGeom>
          <a:noFill/>
          <a:ln/>
        </p:spPr>
        <p:txBody>
          <a:bodyPr wrap="none" lIns="0" tIns="0" rIns="0" bIns="0" rtlCol="0" anchor="t"/>
          <a:lstStyle/>
          <a:p>
            <a:pPr marL="0" indent="0" algn="l">
              <a:lnSpc>
                <a:spcPts val="2250"/>
              </a:lnSpc>
              <a:buNone/>
            </a:pPr>
            <a:r>
              <a:rPr lang="en-US" sz="1800" dirty="0">
                <a:solidFill>
                  <a:srgbClr val="C6BFEE"/>
                </a:solidFill>
                <a:latin typeface="Prompt Medium" pitchFamily="34" charset="0"/>
                <a:ea typeface="Prompt Medium" pitchFamily="34" charset="-122"/>
                <a:cs typeface="Prompt Medium" pitchFamily="34" charset="-120"/>
              </a:rPr>
              <a:t>Reto</a:t>
            </a:r>
            <a:endParaRPr lang="en-US" sz="1800" dirty="0"/>
          </a:p>
        </p:txBody>
      </p:sp>
      <p:sp>
        <p:nvSpPr>
          <p:cNvPr id="27" name="Text 16">
            <a:extLst>
              <a:ext uri="{FF2B5EF4-FFF2-40B4-BE49-F238E27FC236}">
                <a16:creationId xmlns:a16="http://schemas.microsoft.com/office/drawing/2014/main" id="{01788919-C3DE-DBD4-AA52-28C688B53425}"/>
              </a:ext>
            </a:extLst>
          </p:cNvPr>
          <p:cNvSpPr/>
          <p:nvPr/>
        </p:nvSpPr>
        <p:spPr>
          <a:xfrm>
            <a:off x="595247" y="1054114"/>
            <a:ext cx="12455735" cy="3898886"/>
          </a:xfrm>
          <a:prstGeom prst="rect">
            <a:avLst/>
          </a:prstGeom>
          <a:noFill/>
          <a:ln/>
        </p:spPr>
        <p:txBody>
          <a:bodyPr wrap="none" lIns="0" tIns="0" rIns="0" bIns="0" rtlCol="0" anchor="t"/>
          <a:lstStyle/>
          <a:p>
            <a:pPr>
              <a:lnSpc>
                <a:spcPts val="2250"/>
              </a:lnSpc>
            </a:pPr>
            <a:r>
              <a:rPr lang="en-US" sz="1800" dirty="0" err="1">
                <a:solidFill>
                  <a:srgbClr val="C6BFEE"/>
                </a:solidFill>
                <a:latin typeface="Prompt Medium" pitchFamily="34" charset="0"/>
                <a:ea typeface="Prompt Medium" pitchFamily="34" charset="-122"/>
                <a:cs typeface="Prompt Medium" pitchFamily="34" charset="-120"/>
              </a:rPr>
              <a:t>Utilizando</a:t>
            </a:r>
            <a:r>
              <a:rPr lang="en-US" dirty="0">
                <a:solidFill>
                  <a:srgbClr val="C6BFEE"/>
                </a:solidFill>
                <a:latin typeface="Prompt Medium" pitchFamily="34" charset="0"/>
                <a:ea typeface="Prompt Medium" pitchFamily="34" charset="-122"/>
                <a:cs typeface="Prompt Medium" pitchFamily="34" charset="-120"/>
              </a:rPr>
              <a:t> la </a:t>
            </a:r>
            <a:r>
              <a:rPr lang="en-US" dirty="0" err="1">
                <a:solidFill>
                  <a:srgbClr val="C6BFEE"/>
                </a:solidFill>
                <a:latin typeface="Prompt Medium" pitchFamily="34" charset="0"/>
                <a:ea typeface="Prompt Medium" pitchFamily="34" charset="-122"/>
                <a:cs typeface="Prompt Medium" pitchFamily="34" charset="-120"/>
              </a:rPr>
              <a:t>siguiente</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url</a:t>
            </a:r>
            <a:r>
              <a:rPr lang="en-US" dirty="0">
                <a:solidFill>
                  <a:srgbClr val="C6BFEE"/>
                </a:solidFill>
                <a:latin typeface="Prompt Medium" pitchFamily="34" charset="0"/>
                <a:ea typeface="Prompt Medium" pitchFamily="34" charset="-122"/>
                <a:cs typeface="Prompt Medium" pitchFamily="34" charset="-120"/>
              </a:rPr>
              <a:t> de API </a:t>
            </a:r>
            <a:r>
              <a:rPr lang="en-US" dirty="0">
                <a:solidFill>
                  <a:srgbClr val="C6BFEE"/>
                </a:solidFill>
                <a:latin typeface="Prompt Medium" pitchFamily="34" charset="0"/>
                <a:ea typeface="Prompt Medium" pitchFamily="34" charset="-122"/>
                <a:cs typeface="Prompt Medium" pitchFamily="34" charset="-120"/>
                <a:hlinkClick r:id="rId4"/>
              </a:rPr>
              <a:t>https://restcountries.com/v3.1/region/europe</a:t>
            </a:r>
            <a:r>
              <a:rPr lang="en-US" dirty="0">
                <a:solidFill>
                  <a:srgbClr val="C6BFEE"/>
                </a:solidFill>
                <a:latin typeface="Prompt Medium" pitchFamily="34" charset="0"/>
                <a:ea typeface="Prompt Medium" pitchFamily="34" charset="-122"/>
                <a:cs typeface="Prompt Medium" pitchFamily="34" charset="-120"/>
              </a:rPr>
              <a:t>.</a:t>
            </a:r>
          </a:p>
          <a:p>
            <a:pPr>
              <a:lnSpc>
                <a:spcPts val="2250"/>
              </a:lnSpc>
            </a:pPr>
            <a:r>
              <a:rPr lang="en-US" dirty="0">
                <a:solidFill>
                  <a:srgbClr val="C6BFEE"/>
                </a:solidFill>
                <a:latin typeface="Prompt Medium" pitchFamily="34" charset="0"/>
                <a:ea typeface="Prompt Medium" pitchFamily="34" charset="-122"/>
                <a:cs typeface="Prompt Medium" pitchFamily="34" charset="-120"/>
              </a:rPr>
              <a:t>La  </a:t>
            </a:r>
            <a:r>
              <a:rPr lang="en-US" dirty="0" err="1">
                <a:solidFill>
                  <a:srgbClr val="C6BFEE"/>
                </a:solidFill>
                <a:latin typeface="Prompt Medium" pitchFamily="34" charset="0"/>
                <a:ea typeface="Prompt Medium" pitchFamily="34" charset="-122"/>
                <a:cs typeface="Prompt Medium" pitchFamily="34" charset="-120"/>
              </a:rPr>
              <a:t>cual</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retorna</a:t>
            </a:r>
            <a:r>
              <a:rPr lang="en-US" dirty="0">
                <a:solidFill>
                  <a:srgbClr val="C6BFEE"/>
                </a:solidFill>
                <a:latin typeface="Prompt Medium" pitchFamily="34" charset="0"/>
                <a:ea typeface="Prompt Medium" pitchFamily="34" charset="-122"/>
                <a:cs typeface="Prompt Medium" pitchFamily="34" charset="-120"/>
              </a:rPr>
              <a:t> un </a:t>
            </a:r>
            <a:r>
              <a:rPr lang="en-US" dirty="0" err="1">
                <a:solidFill>
                  <a:srgbClr val="C6BFEE"/>
                </a:solidFill>
                <a:latin typeface="Prompt Medium" pitchFamily="34" charset="0"/>
                <a:ea typeface="Prompt Medium" pitchFamily="34" charset="-122"/>
                <a:cs typeface="Prompt Medium" pitchFamily="34" charset="-120"/>
              </a:rPr>
              <a:t>api</a:t>
            </a:r>
            <a:r>
              <a:rPr lang="en-US" dirty="0">
                <a:solidFill>
                  <a:srgbClr val="C6BFEE"/>
                </a:solidFill>
                <a:latin typeface="Prompt Medium" pitchFamily="34" charset="0"/>
                <a:ea typeface="Prompt Medium" pitchFamily="34" charset="-122"/>
                <a:cs typeface="Prompt Medium" pitchFamily="34" charset="-120"/>
              </a:rPr>
              <a:t> con un </a:t>
            </a:r>
            <a:r>
              <a:rPr lang="en-US" dirty="0" err="1">
                <a:solidFill>
                  <a:srgbClr val="C6BFEE"/>
                </a:solidFill>
                <a:latin typeface="Prompt Medium" pitchFamily="34" charset="0"/>
                <a:ea typeface="Prompt Medium" pitchFamily="34" charset="-122"/>
                <a:cs typeface="Prompt Medium" pitchFamily="34" charset="-120"/>
              </a:rPr>
              <a:t>cojunto</a:t>
            </a:r>
            <a:r>
              <a:rPr lang="en-US" dirty="0">
                <a:solidFill>
                  <a:srgbClr val="C6BFEE"/>
                </a:solidFill>
                <a:latin typeface="Prompt Medium" pitchFamily="34" charset="0"/>
                <a:ea typeface="Prompt Medium" pitchFamily="34" charset="-122"/>
                <a:cs typeface="Prompt Medium" pitchFamily="34" charset="-120"/>
              </a:rPr>
              <a:t> de </a:t>
            </a:r>
            <a:r>
              <a:rPr lang="en-US" dirty="0" err="1">
                <a:solidFill>
                  <a:srgbClr val="C6BFEE"/>
                </a:solidFill>
                <a:latin typeface="Prompt Medium" pitchFamily="34" charset="0"/>
                <a:ea typeface="Prompt Medium" pitchFamily="34" charset="-122"/>
                <a:cs typeface="Prompt Medium" pitchFamily="34" charset="-120"/>
              </a:rPr>
              <a:t>paises</a:t>
            </a:r>
            <a:r>
              <a:rPr lang="en-US" dirty="0">
                <a:solidFill>
                  <a:srgbClr val="C6BFEE"/>
                </a:solidFill>
                <a:latin typeface="Prompt Medium" pitchFamily="34" charset="0"/>
                <a:ea typeface="Prompt Medium" pitchFamily="34" charset="-122"/>
                <a:cs typeface="Prompt Medium" pitchFamily="34" charset="-120"/>
              </a:rPr>
              <a:t> con las </a:t>
            </a:r>
            <a:r>
              <a:rPr lang="en-US" dirty="0" err="1">
                <a:solidFill>
                  <a:srgbClr val="C6BFEE"/>
                </a:solidFill>
                <a:latin typeface="Prompt Medium" pitchFamily="34" charset="0"/>
                <a:ea typeface="Prompt Medium" pitchFamily="34" charset="-122"/>
                <a:cs typeface="Prompt Medium" pitchFamily="34" charset="-120"/>
              </a:rPr>
              <a:t>informacion</a:t>
            </a:r>
            <a:r>
              <a:rPr lang="en-US" dirty="0">
                <a:solidFill>
                  <a:srgbClr val="C6BFEE"/>
                </a:solidFill>
                <a:latin typeface="Prompt Medium" pitchFamily="34" charset="0"/>
                <a:ea typeface="Prompt Medium" pitchFamily="34" charset="-122"/>
                <a:cs typeface="Prompt Medium" pitchFamily="34" charset="-120"/>
              </a:rPr>
              <a:t> de </a:t>
            </a:r>
            <a:r>
              <a:rPr lang="en-US" dirty="0" err="1">
                <a:solidFill>
                  <a:srgbClr val="C6BFEE"/>
                </a:solidFill>
                <a:latin typeface="Prompt Medium" pitchFamily="34" charset="0"/>
                <a:ea typeface="Prompt Medium" pitchFamily="34" charset="-122"/>
                <a:cs typeface="Prompt Medium" pitchFamily="34" charset="-120"/>
              </a:rPr>
              <a:t>cada</a:t>
            </a:r>
            <a:r>
              <a:rPr lang="en-US" dirty="0">
                <a:solidFill>
                  <a:srgbClr val="C6BFEE"/>
                </a:solidFill>
                <a:latin typeface="Prompt Medium" pitchFamily="34" charset="0"/>
                <a:ea typeface="Prompt Medium" pitchFamily="34" charset="-122"/>
                <a:cs typeface="Prompt Medium" pitchFamily="34" charset="-120"/>
              </a:rPr>
              <a:t> uno </a:t>
            </a:r>
          </a:p>
          <a:p>
            <a:pPr>
              <a:lnSpc>
                <a:spcPts val="2250"/>
              </a:lnSpc>
            </a:pPr>
            <a:r>
              <a:rPr lang="en-US" dirty="0" err="1">
                <a:solidFill>
                  <a:srgbClr val="C6BFEE"/>
                </a:solidFill>
                <a:latin typeface="Prompt Medium" pitchFamily="34" charset="0"/>
                <a:ea typeface="Prompt Medium" pitchFamily="34" charset="-122"/>
                <a:cs typeface="Prompt Medium" pitchFamily="34" charset="-120"/>
              </a:rPr>
              <a:t>Implementar</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busqueda</a:t>
            </a:r>
            <a:r>
              <a:rPr lang="en-US" dirty="0">
                <a:solidFill>
                  <a:srgbClr val="C6BFEE"/>
                </a:solidFill>
                <a:latin typeface="Prompt Medium" pitchFamily="34" charset="0"/>
                <a:ea typeface="Prompt Medium" pitchFamily="34" charset="-122"/>
                <a:cs typeface="Prompt Medium" pitchFamily="34" charset="-120"/>
              </a:rPr>
              <a:t> lineal y </a:t>
            </a:r>
            <a:r>
              <a:rPr lang="en-US" dirty="0" err="1">
                <a:solidFill>
                  <a:srgbClr val="C6BFEE"/>
                </a:solidFill>
                <a:latin typeface="Prompt Medium" pitchFamily="34" charset="0"/>
                <a:ea typeface="Prompt Medium" pitchFamily="34" charset="-122"/>
                <a:cs typeface="Prompt Medium" pitchFamily="34" charset="-120"/>
              </a:rPr>
              <a:t>binaria</a:t>
            </a:r>
            <a:r>
              <a:rPr lang="en-US" dirty="0">
                <a:solidFill>
                  <a:srgbClr val="C6BFEE"/>
                </a:solidFill>
                <a:latin typeface="Prompt Medium" pitchFamily="34" charset="0"/>
                <a:ea typeface="Prompt Medium" pitchFamily="34" charset="-122"/>
                <a:cs typeface="Prompt Medium" pitchFamily="34" charset="-120"/>
              </a:rPr>
              <a:t> de </a:t>
            </a:r>
            <a:r>
              <a:rPr lang="en-US" dirty="0" err="1">
                <a:solidFill>
                  <a:srgbClr val="C6BFEE"/>
                </a:solidFill>
                <a:latin typeface="Prompt Medium" pitchFamily="34" charset="0"/>
                <a:ea typeface="Prompt Medium" pitchFamily="34" charset="-122"/>
                <a:cs typeface="Prompt Medium" pitchFamily="34" charset="-120"/>
              </a:rPr>
              <a:t>busqueda</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consumiendo</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esta</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api</a:t>
            </a:r>
            <a:r>
              <a:rPr lang="en-US" dirty="0">
                <a:solidFill>
                  <a:srgbClr val="C6BFEE"/>
                </a:solidFill>
                <a:latin typeface="Prompt Medium" pitchFamily="34" charset="0"/>
                <a:ea typeface="Prompt Medium" pitchFamily="34" charset="-122"/>
                <a:cs typeface="Prompt Medium" pitchFamily="34" charset="-120"/>
              </a:rPr>
              <a:t> y </a:t>
            </a:r>
            <a:r>
              <a:rPr lang="en-US" dirty="0" err="1">
                <a:solidFill>
                  <a:srgbClr val="C6BFEE"/>
                </a:solidFill>
                <a:latin typeface="Prompt Medium" pitchFamily="34" charset="0"/>
                <a:ea typeface="Prompt Medium" pitchFamily="34" charset="-122"/>
                <a:cs typeface="Prompt Medium" pitchFamily="34" charset="-120"/>
              </a:rPr>
              <a:t>poder</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realizar</a:t>
            </a:r>
            <a:r>
              <a:rPr lang="en-US" dirty="0">
                <a:solidFill>
                  <a:srgbClr val="C6BFEE"/>
                </a:solidFill>
                <a:latin typeface="Prompt Medium" pitchFamily="34" charset="0"/>
                <a:ea typeface="Prompt Medium" pitchFamily="34" charset="-122"/>
                <a:cs typeface="Prompt Medium" pitchFamily="34" charset="-120"/>
              </a:rPr>
              <a:t> la </a:t>
            </a:r>
            <a:r>
              <a:rPr lang="en-US" dirty="0" err="1">
                <a:solidFill>
                  <a:srgbClr val="C6BFEE"/>
                </a:solidFill>
                <a:latin typeface="Prompt Medium" pitchFamily="34" charset="0"/>
                <a:ea typeface="Prompt Medium" pitchFamily="34" charset="-122"/>
                <a:cs typeface="Prompt Medium" pitchFamily="34" charset="-120"/>
              </a:rPr>
              <a:t>busqueda</a:t>
            </a:r>
            <a:r>
              <a:rPr lang="en-US" dirty="0">
                <a:solidFill>
                  <a:srgbClr val="C6BFEE"/>
                </a:solidFill>
                <a:latin typeface="Prompt Medium" pitchFamily="34" charset="0"/>
                <a:ea typeface="Prompt Medium" pitchFamily="34" charset="-122"/>
                <a:cs typeface="Prompt Medium" pitchFamily="34" charset="-120"/>
              </a:rPr>
              <a:t> </a:t>
            </a:r>
          </a:p>
          <a:p>
            <a:pPr>
              <a:lnSpc>
                <a:spcPts val="2250"/>
              </a:lnSpc>
            </a:pPr>
            <a:r>
              <a:rPr lang="en-US" dirty="0">
                <a:solidFill>
                  <a:srgbClr val="C6BFEE"/>
                </a:solidFill>
                <a:latin typeface="Prompt Medium" pitchFamily="34" charset="0"/>
                <a:ea typeface="Prompt Medium" pitchFamily="34" charset="-122"/>
                <a:cs typeface="Prompt Medium" pitchFamily="34" charset="-120"/>
              </a:rPr>
              <a:t>Por </a:t>
            </a:r>
            <a:r>
              <a:rPr lang="en-US" dirty="0" err="1">
                <a:solidFill>
                  <a:srgbClr val="C6BFEE"/>
                </a:solidFill>
                <a:latin typeface="Prompt Medium" pitchFamily="34" charset="0"/>
                <a:ea typeface="Prompt Medium" pitchFamily="34" charset="-122"/>
                <a:cs typeface="Prompt Medium" pitchFamily="34" charset="-120"/>
              </a:rPr>
              <a:t>el</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nombre</a:t>
            </a:r>
            <a:r>
              <a:rPr lang="en-US" dirty="0">
                <a:solidFill>
                  <a:srgbClr val="C6BFEE"/>
                </a:solidFill>
                <a:latin typeface="Prompt Medium" pitchFamily="34" charset="0"/>
                <a:ea typeface="Prompt Medium" pitchFamily="34" charset="-122"/>
                <a:cs typeface="Prompt Medium" pitchFamily="34" charset="-120"/>
              </a:rPr>
              <a:t> del </a:t>
            </a:r>
            <a:r>
              <a:rPr lang="en-US" dirty="0" err="1">
                <a:solidFill>
                  <a:srgbClr val="C6BFEE"/>
                </a:solidFill>
                <a:latin typeface="Prompt Medium" pitchFamily="34" charset="0"/>
                <a:ea typeface="Prompt Medium" pitchFamily="34" charset="-122"/>
                <a:cs typeface="Prompt Medium" pitchFamily="34" charset="-120"/>
              </a:rPr>
              <a:t>pais</a:t>
            </a:r>
            <a:r>
              <a:rPr lang="en-US" dirty="0">
                <a:solidFill>
                  <a:srgbClr val="C6BFEE"/>
                </a:solidFill>
                <a:latin typeface="Prompt Medium" pitchFamily="34" charset="0"/>
                <a:ea typeface="Prompt Medium" pitchFamily="34" charset="-122"/>
                <a:cs typeface="Prompt Medium" pitchFamily="34" charset="-120"/>
              </a:rPr>
              <a:t> y </a:t>
            </a:r>
            <a:r>
              <a:rPr lang="en-US" dirty="0" err="1">
                <a:solidFill>
                  <a:srgbClr val="C6BFEE"/>
                </a:solidFill>
                <a:latin typeface="Prompt Medium" pitchFamily="34" charset="0"/>
                <a:ea typeface="Prompt Medium" pitchFamily="34" charset="-122"/>
                <a:cs typeface="Prompt Medium" pitchFamily="34" charset="-120"/>
              </a:rPr>
              <a:t>retornar</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informacion</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basica</a:t>
            </a:r>
            <a:r>
              <a:rPr lang="en-US" dirty="0">
                <a:solidFill>
                  <a:srgbClr val="C6BFEE"/>
                </a:solidFill>
                <a:latin typeface="Prompt Medium" pitchFamily="34" charset="0"/>
                <a:ea typeface="Prompt Medium" pitchFamily="34" charset="-122"/>
                <a:cs typeface="Prompt Medium" pitchFamily="34" charset="-120"/>
              </a:rPr>
              <a:t> del </a:t>
            </a:r>
            <a:r>
              <a:rPr lang="en-US" dirty="0" err="1">
                <a:solidFill>
                  <a:srgbClr val="C6BFEE"/>
                </a:solidFill>
                <a:latin typeface="Prompt Medium" pitchFamily="34" charset="0"/>
                <a:ea typeface="Prompt Medium" pitchFamily="34" charset="-122"/>
                <a:cs typeface="Prompt Medium" pitchFamily="34" charset="-120"/>
              </a:rPr>
              <a:t>mismo</a:t>
            </a:r>
            <a:r>
              <a:rPr lang="en-US" dirty="0">
                <a:solidFill>
                  <a:srgbClr val="C6BFEE"/>
                </a:solidFill>
                <a:latin typeface="Prompt Medium" pitchFamily="34" charset="0"/>
                <a:ea typeface="Prompt Medium" pitchFamily="34" charset="-122"/>
                <a:cs typeface="Prompt Medium" pitchFamily="34" charset="-120"/>
              </a:rPr>
              <a:t>    </a:t>
            </a:r>
          </a:p>
          <a:p>
            <a:pPr>
              <a:lnSpc>
                <a:spcPts val="2250"/>
              </a:lnSpc>
            </a:pPr>
            <a:endParaRPr lang="en-US" dirty="0">
              <a:solidFill>
                <a:srgbClr val="C6BFEE"/>
              </a:solidFill>
              <a:latin typeface="Prompt Medium" pitchFamily="34" charset="0"/>
              <a:ea typeface="Prompt Medium" pitchFamily="34" charset="-122"/>
              <a:cs typeface="Prompt Medium" pitchFamily="34" charset="-120"/>
            </a:endParaRPr>
          </a:p>
          <a:p>
            <a:pPr marL="285750" indent="-285750">
              <a:lnSpc>
                <a:spcPts val="2250"/>
              </a:lnSpc>
              <a:buFont typeface="Arial" panose="020B0604020202020204" pitchFamily="34" charset="0"/>
              <a:buChar char="•"/>
            </a:pPr>
            <a:r>
              <a:rPr lang="en-US" dirty="0">
                <a:solidFill>
                  <a:srgbClr val="C6BFEE"/>
                </a:solidFill>
                <a:latin typeface="Prompt Medium" pitchFamily="34" charset="0"/>
                <a:ea typeface="Prompt Medium" pitchFamily="34" charset="-122"/>
                <a:cs typeface="Prompt Medium" pitchFamily="34" charset="-120"/>
              </a:rPr>
              <a:t>Tener </a:t>
            </a:r>
            <a:r>
              <a:rPr lang="en-US" dirty="0" err="1">
                <a:solidFill>
                  <a:srgbClr val="C6BFEE"/>
                </a:solidFill>
                <a:latin typeface="Prompt Medium" pitchFamily="34" charset="0"/>
                <a:ea typeface="Prompt Medium" pitchFamily="34" charset="-122"/>
                <a:cs typeface="Prompt Medium" pitchFamily="34" charset="-120"/>
              </a:rPr>
              <a:t>en</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cuenta</a:t>
            </a:r>
            <a:r>
              <a:rPr lang="en-US" dirty="0">
                <a:solidFill>
                  <a:srgbClr val="C6BFEE"/>
                </a:solidFill>
                <a:latin typeface="Prompt Medium" pitchFamily="34" charset="0"/>
                <a:ea typeface="Prompt Medium" pitchFamily="34" charset="-122"/>
                <a:cs typeface="Prompt Medium" pitchFamily="34" charset="-120"/>
              </a:rPr>
              <a:t> que </a:t>
            </a:r>
            <a:r>
              <a:rPr lang="en-US" dirty="0" err="1">
                <a:solidFill>
                  <a:srgbClr val="C6BFEE"/>
                </a:solidFill>
                <a:latin typeface="Prompt Medium" pitchFamily="34" charset="0"/>
                <a:ea typeface="Prompt Medium" pitchFamily="34" charset="-122"/>
                <a:cs typeface="Prompt Medium" pitchFamily="34" charset="-120"/>
              </a:rPr>
              <a:t>el</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codigo</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debe</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tener</a:t>
            </a:r>
            <a:r>
              <a:rPr lang="en-US" dirty="0">
                <a:solidFill>
                  <a:srgbClr val="C6BFEE"/>
                </a:solidFill>
                <a:latin typeface="Prompt Medium" pitchFamily="34" charset="0"/>
                <a:ea typeface="Prompt Medium" pitchFamily="34" charset="-122"/>
                <a:cs typeface="Prompt Medium" pitchFamily="34" charset="-120"/>
              </a:rPr>
              <a:t> la </a:t>
            </a:r>
            <a:r>
              <a:rPr lang="en-US" dirty="0" err="1">
                <a:solidFill>
                  <a:srgbClr val="C6BFEE"/>
                </a:solidFill>
                <a:latin typeface="Prompt Medium" pitchFamily="34" charset="0"/>
                <a:ea typeface="Prompt Medium" pitchFamily="34" charset="-122"/>
                <a:cs typeface="Prompt Medium" pitchFamily="34" charset="-120"/>
              </a:rPr>
              <a:t>opcion</a:t>
            </a:r>
            <a:r>
              <a:rPr lang="en-US" dirty="0">
                <a:solidFill>
                  <a:srgbClr val="C6BFEE"/>
                </a:solidFill>
                <a:latin typeface="Prompt Medium" pitchFamily="34" charset="0"/>
                <a:ea typeface="Prompt Medium" pitchFamily="34" charset="-122"/>
                <a:cs typeface="Prompt Medium" pitchFamily="34" charset="-120"/>
              </a:rPr>
              <a:t> de </a:t>
            </a:r>
            <a:r>
              <a:rPr lang="en-US" dirty="0" err="1">
                <a:solidFill>
                  <a:srgbClr val="C6BFEE"/>
                </a:solidFill>
                <a:latin typeface="Prompt Medium" pitchFamily="34" charset="0"/>
                <a:ea typeface="Prompt Medium" pitchFamily="34" charset="-122"/>
                <a:cs typeface="Prompt Medium" pitchFamily="34" charset="-120"/>
              </a:rPr>
              <a:t>seleccionar</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el</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tipo</a:t>
            </a:r>
            <a:r>
              <a:rPr lang="en-US" dirty="0">
                <a:solidFill>
                  <a:srgbClr val="C6BFEE"/>
                </a:solidFill>
                <a:latin typeface="Prompt Medium" pitchFamily="34" charset="0"/>
                <a:ea typeface="Prompt Medium" pitchFamily="34" charset="-122"/>
                <a:cs typeface="Prompt Medium" pitchFamily="34" charset="-120"/>
              </a:rPr>
              <a:t> de </a:t>
            </a:r>
            <a:r>
              <a:rPr lang="en-US" dirty="0" err="1">
                <a:solidFill>
                  <a:srgbClr val="C6BFEE"/>
                </a:solidFill>
                <a:latin typeface="Prompt Medium" pitchFamily="34" charset="0"/>
                <a:ea typeface="Prompt Medium" pitchFamily="34" charset="-122"/>
                <a:cs typeface="Prompt Medium" pitchFamily="34" charset="-120"/>
              </a:rPr>
              <a:t>busqueda</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binaria</a:t>
            </a:r>
            <a:r>
              <a:rPr lang="en-US" dirty="0">
                <a:solidFill>
                  <a:srgbClr val="C6BFEE"/>
                </a:solidFill>
                <a:latin typeface="Prompt Medium" pitchFamily="34" charset="0"/>
                <a:ea typeface="Prompt Medium" pitchFamily="34" charset="-122"/>
                <a:cs typeface="Prompt Medium" pitchFamily="34" charset="-120"/>
              </a:rPr>
              <a:t> o lineal </a:t>
            </a:r>
          </a:p>
          <a:p>
            <a:pPr marL="285750" indent="-285750">
              <a:lnSpc>
                <a:spcPts val="2250"/>
              </a:lnSpc>
              <a:buFont typeface="Arial" panose="020B0604020202020204" pitchFamily="34" charset="0"/>
              <a:buChar char="•"/>
            </a:pPr>
            <a:r>
              <a:rPr lang="en-US" dirty="0" err="1">
                <a:solidFill>
                  <a:srgbClr val="C6BFEE"/>
                </a:solidFill>
                <a:latin typeface="Prompt Medium" pitchFamily="34" charset="0"/>
                <a:ea typeface="Prompt Medium" pitchFamily="34" charset="-122"/>
                <a:cs typeface="Prompt Medium" pitchFamily="34" charset="-120"/>
              </a:rPr>
              <a:t>Utilizar</a:t>
            </a:r>
            <a:r>
              <a:rPr lang="en-US" dirty="0">
                <a:solidFill>
                  <a:srgbClr val="C6BFEE"/>
                </a:solidFill>
                <a:latin typeface="Prompt Medium" pitchFamily="34" charset="0"/>
                <a:ea typeface="Prompt Medium" pitchFamily="34" charset="-122"/>
                <a:cs typeface="Prompt Medium" pitchFamily="34" charset="-120"/>
              </a:rPr>
              <a:t> la </a:t>
            </a:r>
            <a:r>
              <a:rPr lang="en-US" dirty="0" err="1">
                <a:solidFill>
                  <a:srgbClr val="C6BFEE"/>
                </a:solidFill>
                <a:latin typeface="Prompt Medium" pitchFamily="34" charset="0"/>
                <a:ea typeface="Prompt Medium" pitchFamily="34" charset="-122"/>
                <a:cs typeface="Prompt Medium" pitchFamily="34" charset="-120"/>
              </a:rPr>
              <a:t>libreria</a:t>
            </a:r>
            <a:r>
              <a:rPr lang="en-US" dirty="0">
                <a:solidFill>
                  <a:srgbClr val="C6BFEE"/>
                </a:solidFill>
                <a:latin typeface="Prompt Medium" pitchFamily="34" charset="0"/>
                <a:ea typeface="Prompt Medium" pitchFamily="34" charset="-122"/>
                <a:cs typeface="Prompt Medium" pitchFamily="34" charset="-120"/>
              </a:rPr>
              <a:t> request de python </a:t>
            </a:r>
          </a:p>
          <a:p>
            <a:pPr marL="285750" indent="-285750">
              <a:lnSpc>
                <a:spcPts val="2250"/>
              </a:lnSpc>
              <a:buFont typeface="Arial" panose="020B0604020202020204" pitchFamily="34" charset="0"/>
              <a:buChar char="•"/>
            </a:pPr>
            <a:r>
              <a:rPr lang="en-US" dirty="0">
                <a:solidFill>
                  <a:srgbClr val="C6BFEE"/>
                </a:solidFill>
                <a:latin typeface="Prompt Medium" pitchFamily="34" charset="0"/>
                <a:ea typeface="Prompt Medium" pitchFamily="34" charset="-122"/>
                <a:cs typeface="Prompt Medium" pitchFamily="34" charset="-120"/>
              </a:rPr>
              <a:t>Al </a:t>
            </a:r>
            <a:r>
              <a:rPr lang="en-US" dirty="0" err="1">
                <a:solidFill>
                  <a:srgbClr val="C6BFEE"/>
                </a:solidFill>
                <a:latin typeface="Prompt Medium" pitchFamily="34" charset="0"/>
                <a:ea typeface="Prompt Medium" pitchFamily="34" charset="-122"/>
                <a:cs typeface="Prompt Medium" pitchFamily="34" charset="-120"/>
              </a:rPr>
              <a:t>encontrar</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el</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pais</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debe</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retornar</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el</a:t>
            </a:r>
            <a:r>
              <a:rPr lang="en-US" dirty="0">
                <a:solidFill>
                  <a:srgbClr val="C6BFEE"/>
                </a:solidFill>
                <a:latin typeface="Prompt Medium" pitchFamily="34" charset="0"/>
                <a:ea typeface="Prompt Medium" pitchFamily="34" charset="-122"/>
                <a:cs typeface="Prompt Medium" pitchFamily="34" charset="-120"/>
              </a:rPr>
              <a:t> </a:t>
            </a:r>
            <a:r>
              <a:rPr lang="en-US" dirty="0" err="1">
                <a:solidFill>
                  <a:srgbClr val="C6BFEE"/>
                </a:solidFill>
                <a:latin typeface="Prompt Medium" pitchFamily="34" charset="0"/>
                <a:ea typeface="Prompt Medium" pitchFamily="34" charset="-122"/>
                <a:cs typeface="Prompt Medium" pitchFamily="34" charset="-120"/>
              </a:rPr>
              <a:t>nombre</a:t>
            </a:r>
            <a:r>
              <a:rPr lang="en-US" dirty="0">
                <a:solidFill>
                  <a:srgbClr val="C6BFEE"/>
                </a:solidFill>
                <a:latin typeface="Prompt Medium" pitchFamily="34" charset="0"/>
                <a:ea typeface="Prompt Medium" pitchFamily="34" charset="-122"/>
                <a:cs typeface="Prompt Medium" pitchFamily="34" charset="-120"/>
              </a:rPr>
              <a:t> y la </a:t>
            </a:r>
            <a:r>
              <a:rPr lang="en-US" dirty="0" err="1">
                <a:solidFill>
                  <a:srgbClr val="C6BFEE"/>
                </a:solidFill>
                <a:latin typeface="Prompt Medium" pitchFamily="34" charset="0"/>
                <a:ea typeface="Prompt Medium" pitchFamily="34" charset="-122"/>
                <a:cs typeface="Prompt Medium" pitchFamily="34" charset="-120"/>
              </a:rPr>
              <a:t>url</a:t>
            </a:r>
            <a:r>
              <a:rPr lang="en-US" dirty="0">
                <a:solidFill>
                  <a:srgbClr val="C6BFEE"/>
                </a:solidFill>
                <a:latin typeface="Prompt Medium" pitchFamily="34" charset="0"/>
                <a:ea typeface="Prompt Medium" pitchFamily="34" charset="-122"/>
                <a:cs typeface="Prompt Medium" pitchFamily="34" charset="-120"/>
              </a:rPr>
              <a:t> de google para </a:t>
            </a:r>
            <a:r>
              <a:rPr lang="en-US" dirty="0" err="1">
                <a:solidFill>
                  <a:srgbClr val="C6BFEE"/>
                </a:solidFill>
                <a:latin typeface="Prompt Medium" pitchFamily="34" charset="0"/>
                <a:ea typeface="Prompt Medium" pitchFamily="34" charset="-122"/>
                <a:cs typeface="Prompt Medium" pitchFamily="34" charset="-120"/>
              </a:rPr>
              <a:t>mapas</a:t>
            </a:r>
            <a:endParaRPr lang="en-US" dirty="0">
              <a:solidFill>
                <a:srgbClr val="C6BFEE"/>
              </a:solidFill>
              <a:latin typeface="Prompt Medium" pitchFamily="34" charset="0"/>
              <a:ea typeface="Prompt Medium" pitchFamily="34" charset="-122"/>
              <a:cs typeface="Prompt Medium" pitchFamily="34" charset="-120"/>
            </a:endParaRPr>
          </a:p>
          <a:p>
            <a:pPr marL="285750" indent="-285750">
              <a:lnSpc>
                <a:spcPts val="2250"/>
              </a:lnSpc>
              <a:buFont typeface="Arial" panose="020B0604020202020204" pitchFamily="34" charset="0"/>
              <a:buChar char="•"/>
            </a:pPr>
            <a:endParaRPr lang="en-US" dirty="0">
              <a:solidFill>
                <a:srgbClr val="C6BFEE"/>
              </a:solidFill>
              <a:latin typeface="Prompt Medium" pitchFamily="34" charset="0"/>
              <a:ea typeface="Prompt Medium" pitchFamily="34" charset="-122"/>
              <a:cs typeface="Prompt Medium" pitchFamily="34" charset="-120"/>
            </a:endParaRPr>
          </a:p>
          <a:p>
            <a:pPr lvl="1">
              <a:lnSpc>
                <a:spcPts val="2250"/>
              </a:lnSpc>
            </a:pPr>
            <a:r>
              <a:rPr lang="en-US" dirty="0">
                <a:solidFill>
                  <a:srgbClr val="C6BFEE"/>
                </a:solidFill>
                <a:latin typeface="Prompt Medium" pitchFamily="34" charset="0"/>
                <a:ea typeface="Prompt Medium" pitchFamily="34" charset="-122"/>
                <a:cs typeface="Prompt Medium" pitchFamily="34" charset="-120"/>
              </a:rPr>
              <a:t>Nombre </a:t>
            </a:r>
            <a:r>
              <a:rPr lang="en-US" dirty="0" err="1">
                <a:solidFill>
                  <a:srgbClr val="C6BFEE"/>
                </a:solidFill>
                <a:latin typeface="Prompt Medium" pitchFamily="34" charset="0"/>
                <a:ea typeface="Prompt Medium" pitchFamily="34" charset="-122"/>
                <a:cs typeface="Prompt Medium" pitchFamily="34" charset="-120"/>
              </a:rPr>
              <a:t>suecia</a:t>
            </a:r>
            <a:r>
              <a:rPr lang="en-US" dirty="0">
                <a:solidFill>
                  <a:srgbClr val="C6BFEE"/>
                </a:solidFill>
                <a:latin typeface="Prompt Medium" pitchFamily="34" charset="0"/>
                <a:ea typeface="Prompt Medium" pitchFamily="34" charset="-122"/>
                <a:cs typeface="Prompt Medium" pitchFamily="34" charset="-120"/>
              </a:rPr>
              <a:t> </a:t>
            </a:r>
          </a:p>
          <a:p>
            <a:pPr lvl="1">
              <a:lnSpc>
                <a:spcPts val="2250"/>
              </a:lnSpc>
            </a:pPr>
            <a:r>
              <a:rPr lang="en-US" dirty="0" err="1">
                <a:solidFill>
                  <a:srgbClr val="C6BFEE"/>
                </a:solidFill>
                <a:latin typeface="Prompt Medium" pitchFamily="34" charset="0"/>
                <a:ea typeface="Prompt Medium" pitchFamily="34" charset="-122"/>
                <a:cs typeface="Prompt Medium" pitchFamily="34" charset="-120"/>
              </a:rPr>
              <a:t>url</a:t>
            </a:r>
            <a:r>
              <a:rPr lang="en-US" dirty="0">
                <a:solidFill>
                  <a:srgbClr val="C6BFEE"/>
                </a:solidFill>
                <a:latin typeface="Prompt Medium" pitchFamily="34" charset="0"/>
                <a:ea typeface="Prompt Medium" pitchFamily="34" charset="-122"/>
                <a:cs typeface="Prompt Medium" pitchFamily="34" charset="-120"/>
              </a:rPr>
              <a:t> : </a:t>
            </a:r>
            <a:r>
              <a:rPr lang="es-ES" dirty="0">
                <a:hlinkClick r:id="rId5"/>
              </a:rPr>
              <a:t>"https://goo.gl/maps/iqygE491ADVgnBW39"</a:t>
            </a:r>
            <a:r>
              <a:rPr lang="es-ES" dirty="0"/>
              <a:t>, </a:t>
            </a:r>
            <a:endParaRPr lang="en-US" dirty="0">
              <a:solidFill>
                <a:srgbClr val="C6BFEE"/>
              </a:solidFill>
              <a:latin typeface="Prompt Medium" pitchFamily="34" charset="0"/>
              <a:ea typeface="Prompt Medium" pitchFamily="34" charset="-122"/>
              <a:cs typeface="Prompt Medium" pitchFamily="34" charset="-120"/>
            </a:endParaRPr>
          </a:p>
          <a:p>
            <a:pPr marL="285750" indent="-285750">
              <a:lnSpc>
                <a:spcPts val="2250"/>
              </a:lnSpc>
              <a:buFont typeface="Arial" panose="020B0604020202020204" pitchFamily="34" charset="0"/>
              <a:buChar char="•"/>
            </a:pPr>
            <a:endParaRPr lang="en-US" dirty="0">
              <a:solidFill>
                <a:srgbClr val="C6BFEE"/>
              </a:solidFill>
              <a:latin typeface="Prompt Medium" pitchFamily="34" charset="0"/>
              <a:ea typeface="Prompt Medium" pitchFamily="34" charset="-122"/>
              <a:cs typeface="Prompt Medium" pitchFamily="34" charset="-120"/>
            </a:endParaRPr>
          </a:p>
          <a:p>
            <a:pPr>
              <a:lnSpc>
                <a:spcPts val="2250"/>
              </a:lnSpc>
            </a:pPr>
            <a:endParaRPr lang="en-US" dirty="0">
              <a:solidFill>
                <a:srgbClr val="C6BFEE"/>
              </a:solidFill>
              <a:latin typeface="Prompt Medium" pitchFamily="34" charset="0"/>
              <a:ea typeface="Prompt Medium" pitchFamily="34" charset="-122"/>
              <a:cs typeface="Prompt Medium" pitchFamily="34" charset="-120"/>
            </a:endParaRPr>
          </a:p>
          <a:p>
            <a:pPr marL="285750" indent="-285750">
              <a:lnSpc>
                <a:spcPts val="2250"/>
              </a:lnSpc>
              <a:buFont typeface="Arial" panose="020B0604020202020204" pitchFamily="34" charset="0"/>
              <a:buChar char="•"/>
            </a:pPr>
            <a:endParaRPr lang="en-US" dirty="0">
              <a:solidFill>
                <a:srgbClr val="C6BFEE"/>
              </a:solidFill>
              <a:latin typeface="Prompt Medium" pitchFamily="34" charset="0"/>
              <a:ea typeface="Prompt Medium" pitchFamily="34" charset="-122"/>
              <a:cs typeface="Prompt Medium" pitchFamily="34" charset="-120"/>
            </a:endParaRPr>
          </a:p>
          <a:p>
            <a:pPr>
              <a:lnSpc>
                <a:spcPts val="2250"/>
              </a:lnSpc>
            </a:pPr>
            <a:endParaRPr lang="en-US" sz="1800" dirty="0"/>
          </a:p>
        </p:txBody>
      </p:sp>
    </p:spTree>
    <p:extLst>
      <p:ext uri="{BB962C8B-B14F-4D97-AF65-F5344CB8AC3E}">
        <p14:creationId xmlns:p14="http://schemas.microsoft.com/office/powerpoint/2010/main" val="11331950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36</TotalTime>
  <Words>1278</Words>
  <Application>Microsoft Macintosh PowerPoint</Application>
  <PresentationFormat>Personalizado</PresentationFormat>
  <Paragraphs>105</Paragraphs>
  <Slides>11</Slides>
  <Notes>11</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11</vt:i4>
      </vt:variant>
    </vt:vector>
  </HeadingPairs>
  <TitlesOfParts>
    <vt:vector size="16" baseType="lpstr">
      <vt:lpstr>Mukta Light</vt:lpstr>
      <vt:lpstr>Arial</vt:lpstr>
      <vt:lpstr>Consolas Light</vt:lpstr>
      <vt:lpstr>Prompt Medium</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esteban</cp:lastModifiedBy>
  <cp:revision>3</cp:revision>
  <dcterms:created xsi:type="dcterms:W3CDTF">2025-08-28T01:29:53Z</dcterms:created>
  <dcterms:modified xsi:type="dcterms:W3CDTF">2025-08-28T02:06:10Z</dcterms:modified>
</cp:coreProperties>
</file>